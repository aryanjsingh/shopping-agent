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line: a shopping agent that cannot invent a product, because the architecture will not let it. Say the report is 25 pages and this is the 5-minute version.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point: buyers think in intent, search works in keywords. The gap is where they give up. Give the 4K video example out 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this needs an agent and not one model call. Three properties. Emphasise 'external truth' — the model's own memory is dangerous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one thing to point at: the heavy box. All credentials live in that one process; the web layer holds none.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build itself. Strict TypeScript end to end, Zod at every tool boundary, and a hand-written MCP client rather than an SDK. Mention 29 models selectable at run time — that is what let me compare policy failures against model failures.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ordering: the user's message is saved BEFORE the stream opens, so a dropped connection can never lose it. Then the boxed loop.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stopping conditions. The interesting one is the second: asking a question ENDS the turn. Otherwise the model asks and then keeps working underneath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 tools in four groups. The load-bearing detail: searching and displaying are separate actions, so the agent can discard bad result sets silently.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design decision to highlight: working memory is NOT stored separately. It is rebuilt from the transcript each request, because every tool result is already saved inside the message. That removes a whole class of stale-cache bug.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slide. Two paths. The model fully controls the top one and it ends in text. A product card needs a real catalogue response it cannot fabricate.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here — it is the strongest slide. Five of eight clean. The two failures LOOKED correct on screen. Only checking the tool sequence caught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transferable claim, then the three next steps.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panel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2860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365760"/>
          </a:xfrm>
          <a:prstGeom prst="rect">
            <a:avLst/>
          </a:prstGeom>
          <a:noFill/>
        </p:spPr>
        <p:txBody>
          <a:bodyPr wrap="square" lIns="0" rIns="0" tIns="0" bIns="0">
            <a:spAutoFit/>
          </a:bodyPr>
          <a:lstStyle/>
          <a:p>
            <a:pPr algn="l">
              <a:lnSpc>
                <a:spcPct val="115000"/>
              </a:lnSpc>
              <a:spcAft>
                <a:spcPts val="600"/>
              </a:spcAft>
            </a:pPr>
            <a:r>
              <a:rPr sz="1200" b="1" i="0">
                <a:solidFill>
                  <a:srgbClr val="BFC9C7"/>
                </a:solidFill>
                <a:latin typeface="Arial"/>
              </a:rPr>
              <a:t>KIIT DEEMED TO BE UNIVERSITY  ·  SCHOOL OF COMPUTER ENGINEERING</a:t>
            </a:r>
          </a:p>
        </p:txBody>
      </p:sp>
      <p:sp>
        <p:nvSpPr>
          <p:cNvPr id="4" name="TextBox 3"/>
          <p:cNvSpPr txBox="1"/>
          <p:nvPr/>
        </p:nvSpPr>
        <p:spPr>
          <a:xfrm>
            <a:off x="822960" y="960120"/>
            <a:ext cx="10515600" cy="914400"/>
          </a:xfrm>
          <a:prstGeom prst="rect">
            <a:avLst/>
          </a:prstGeom>
          <a:noFill/>
        </p:spPr>
        <p:txBody>
          <a:bodyPr wrap="square" lIns="0" rIns="0" tIns="0" bIns="0">
            <a:spAutoFit/>
          </a:bodyPr>
          <a:lstStyle/>
          <a:p>
            <a:pPr algn="l">
              <a:lnSpc>
                <a:spcPct val="115000"/>
              </a:lnSpc>
              <a:spcAft>
                <a:spcPts val="600"/>
              </a:spcAft>
            </a:pPr>
            <a:r>
              <a:rPr sz="4400" b="0" i="0">
                <a:solidFill>
                  <a:srgbClr val="FFFFFF"/>
                </a:solidFill>
                <a:latin typeface="Georgia"/>
              </a:rPr>
              <a:t>AI Shopping Agent</a:t>
            </a:r>
          </a:p>
        </p:txBody>
      </p:sp>
      <p:sp>
        <p:nvSpPr>
          <p:cNvPr id="5" name="TextBox 4"/>
          <p:cNvSpPr txBox="1"/>
          <p:nvPr/>
        </p:nvSpPr>
        <p:spPr>
          <a:xfrm>
            <a:off x="822960" y="2697480"/>
            <a:ext cx="9692640" cy="1005840"/>
          </a:xfrm>
          <a:prstGeom prst="rect">
            <a:avLst/>
          </a:prstGeom>
          <a:noFill/>
        </p:spPr>
        <p:txBody>
          <a:bodyPr wrap="square" lIns="0" rIns="0" tIns="0" bIns="0">
            <a:spAutoFit/>
          </a:bodyPr>
          <a:lstStyle/>
          <a:p>
            <a:pPr algn="l">
              <a:lnSpc>
                <a:spcPct val="130000"/>
              </a:lnSpc>
              <a:spcAft>
                <a:spcPts val="600"/>
              </a:spcAft>
            </a:pPr>
            <a:r>
              <a:rPr sz="2000" b="0" i="1">
                <a:solidFill>
                  <a:srgbClr val="141414"/>
                </a:solidFill>
                <a:latin typeface="Georgia"/>
              </a:rPr>
              <a:t>A conversational shopping agent grounded in a live cross-merchant catalogue, designed so that fabricated products are impossible rather than unlikely.</a:t>
            </a:r>
          </a:p>
        </p:txBody>
      </p:sp>
      <p:sp>
        <p:nvSpPr>
          <p:cNvPr id="6" name="Rectangle 5"/>
          <p:cNvSpPr/>
          <p:nvPr/>
        </p:nvSpPr>
        <p:spPr>
          <a:xfrm>
            <a:off x="822960" y="4069080"/>
            <a:ext cx="4754880" cy="254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343400"/>
            <a:ext cx="4572000" cy="320040"/>
          </a:xfrm>
          <a:prstGeom prst="rect">
            <a:avLst/>
          </a:prstGeom>
          <a:noFill/>
        </p:spPr>
        <p:txBody>
          <a:bodyPr wrap="square" lIns="0" rIns="0" tIns="0" bIns="0">
            <a:spAutoFit/>
          </a:bodyPr>
          <a:lstStyle/>
          <a:p>
            <a:pPr algn="l">
              <a:lnSpc>
                <a:spcPct val="115000"/>
              </a:lnSpc>
              <a:spcAft>
                <a:spcPts val="600"/>
              </a:spcAft>
            </a:pPr>
            <a:r>
              <a:rPr sz="1900" b="1" i="0">
                <a:solidFill>
                  <a:srgbClr val="141414"/>
                </a:solidFill>
                <a:latin typeface="Arial"/>
              </a:rPr>
              <a:t>Ridhi Kumari</a:t>
            </a:r>
          </a:p>
        </p:txBody>
      </p:sp>
      <p:sp>
        <p:nvSpPr>
          <p:cNvPr id="8" name="TextBox 7"/>
          <p:cNvSpPr txBox="1"/>
          <p:nvPr/>
        </p:nvSpPr>
        <p:spPr>
          <a:xfrm>
            <a:off x="822960" y="4736592"/>
            <a:ext cx="4572000" cy="320040"/>
          </a:xfrm>
          <a:prstGeom prst="rect">
            <a:avLst/>
          </a:prstGeom>
          <a:noFill/>
        </p:spPr>
        <p:txBody>
          <a:bodyPr wrap="square" lIns="0" rIns="0" tIns="0" bIns="0">
            <a:spAutoFit/>
          </a:bodyPr>
          <a:lstStyle/>
          <a:p>
            <a:pPr algn="l">
              <a:lnSpc>
                <a:spcPct val="115000"/>
              </a:lnSpc>
              <a:spcAft>
                <a:spcPts val="600"/>
              </a:spcAft>
            </a:pPr>
            <a:r>
              <a:rPr sz="1600" b="0" i="0">
                <a:solidFill>
                  <a:srgbClr val="6A6A6A"/>
                </a:solidFill>
                <a:latin typeface="Arial"/>
              </a:rPr>
              <a:t>Roll No. 23052828</a:t>
            </a:r>
          </a:p>
        </p:txBody>
      </p:sp>
      <p:sp>
        <p:nvSpPr>
          <p:cNvPr id="9" name="TextBox 8"/>
          <p:cNvSpPr txBox="1"/>
          <p:nvPr/>
        </p:nvSpPr>
        <p:spPr>
          <a:xfrm>
            <a:off x="822960" y="5138928"/>
            <a:ext cx="4572000" cy="320040"/>
          </a:xfrm>
          <a:prstGeom prst="rect">
            <a:avLst/>
          </a:prstGeom>
          <a:noFill/>
        </p:spPr>
        <p:txBody>
          <a:bodyPr wrap="square" lIns="0" rIns="0" tIns="0" bIns="0">
            <a:spAutoFit/>
          </a:bodyPr>
          <a:lstStyle/>
          <a:p>
            <a:pPr algn="l">
              <a:lnSpc>
                <a:spcPct val="115000"/>
              </a:lnSpc>
              <a:spcAft>
                <a:spcPts val="600"/>
              </a:spcAft>
            </a:pPr>
            <a:r>
              <a:rPr sz="1600" b="0" i="0">
                <a:solidFill>
                  <a:srgbClr val="6A6A6A"/>
                </a:solidFill>
                <a:latin typeface="Arial"/>
              </a:rPr>
              <a:t>B.Tech, Information Technology</a:t>
            </a:r>
          </a:p>
        </p:txBody>
      </p:sp>
      <p:pic>
        <p:nvPicPr>
          <p:cNvPr id="10" name="Picture 9" descr="cur_image43.jpg"/>
          <p:cNvPicPr>
            <a:picLocks noChangeAspect="1"/>
          </p:cNvPicPr>
          <p:nvPr/>
        </p:nvPicPr>
        <p:blipFill>
          <a:blip r:embed="rId3"/>
          <a:stretch>
            <a:fillRect/>
          </a:stretch>
        </p:blipFill>
        <p:spPr>
          <a:xfrm>
            <a:off x="9646920" y="3977639"/>
            <a:ext cx="1371600" cy="1371600"/>
          </a:xfrm>
          <a:prstGeom prst="rect">
            <a:avLst/>
          </a:prstGeom>
        </p:spPr>
      </p:pic>
      <p:sp>
        <p:nvSpPr>
          <p:cNvPr id="11" name="TextBox 10"/>
          <p:cNvSpPr txBox="1"/>
          <p:nvPr/>
        </p:nvSpPr>
        <p:spPr>
          <a:xfrm>
            <a:off x="8915400" y="5440680"/>
            <a:ext cx="2834640" cy="320040"/>
          </a:xfrm>
          <a:prstGeom prst="rect">
            <a:avLst/>
          </a:prstGeom>
          <a:noFill/>
        </p:spPr>
        <p:txBody>
          <a:bodyPr wrap="square" lIns="0" rIns="0" tIns="0" bIns="0">
            <a:spAutoFit/>
          </a:bodyPr>
          <a:lstStyle/>
          <a:p>
            <a:pPr algn="ctr">
              <a:lnSpc>
                <a:spcPct val="115000"/>
              </a:lnSpc>
              <a:spcAft>
                <a:spcPts val="600"/>
              </a:spcAft>
            </a:pPr>
            <a:r>
              <a:rPr sz="1300" b="0" i="0">
                <a:solidFill>
                  <a:srgbClr val="6A6A6A"/>
                </a:solidFill>
                <a:latin typeface="Arial"/>
              </a:rPr>
              <a:t>KIIT Deemed to be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THE PROBLEM</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Buyers think in intent. Search works in keywords.</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65960"/>
            <a:ext cx="5486400" cy="3840480"/>
          </a:xfrm>
          <a:prstGeom prst="rect">
            <a:avLst/>
          </a:prstGeom>
          <a:noFill/>
        </p:spPr>
        <p:txBody>
          <a:bodyPr wrap="square" lIns="0" rIns="0" tIns="0" bIns="0">
            <a:spAutoFit/>
          </a:bodyPr>
          <a:lstStyle/>
          <a:p>
            <a:pPr>
              <a:lnSpc>
                <a:spcPct val="118000"/>
              </a:lnSpc>
              <a:spcAft>
                <a:spcPts val="1600"/>
              </a:spcAft>
            </a:pPr>
            <a:r>
              <a:rPr sz="1750">
                <a:solidFill>
                  <a:srgbClr val="6A6A6A"/>
                </a:solidFill>
                <a:latin typeface="Arial"/>
              </a:rPr>
              <a:t>— </a:t>
            </a:r>
            <a:r>
              <a:rPr sz="1750" b="1">
                <a:solidFill>
                  <a:srgbClr val="141414"/>
                </a:solidFill>
                <a:latin typeface="Arial"/>
              </a:rPr>
              <a:t>Translation burden.</a:t>
            </a:r>
            <a:r>
              <a:rPr sz="1750">
                <a:solidFill>
                  <a:srgbClr val="141414"/>
                </a:solidFill>
                <a:latin typeface="Arial"/>
              </a:rPr>
              <a:t> The shopper must convert a need into keywords, then filters, then a dozen open tabs.</a:t>
            </a:r>
          </a:p>
          <a:p>
            <a:pPr>
              <a:lnSpc>
                <a:spcPct val="118000"/>
              </a:lnSpc>
              <a:spcAft>
                <a:spcPts val="1600"/>
              </a:spcAft>
            </a:pPr>
            <a:r>
              <a:rPr sz="1750">
                <a:solidFill>
                  <a:srgbClr val="6A6A6A"/>
                </a:solidFill>
                <a:latin typeface="Arial"/>
              </a:rPr>
              <a:t>— </a:t>
            </a:r>
            <a:r>
              <a:rPr sz="1750" b="1">
                <a:solidFill>
                  <a:srgbClr val="141414"/>
                </a:solidFill>
                <a:latin typeface="Arial"/>
              </a:rPr>
              <a:t>Stale results.</a:t>
            </a:r>
            <a:r>
              <a:rPr sz="1750">
                <a:solidFill>
                  <a:srgbClr val="141414"/>
                </a:solidFill>
                <a:latin typeface="Arial"/>
              </a:rPr>
              <a:t> A keyword match can be several hardware generations old, or an accessory rather than the device.</a:t>
            </a:r>
          </a:p>
          <a:p>
            <a:pPr>
              <a:lnSpc>
                <a:spcPct val="118000"/>
              </a:lnSpc>
              <a:spcAft>
                <a:spcPts val="1600"/>
              </a:spcAft>
            </a:pPr>
            <a:r>
              <a:rPr sz="1750">
                <a:solidFill>
                  <a:srgbClr val="6A6A6A"/>
                </a:solidFill>
                <a:latin typeface="Arial"/>
              </a:rPr>
              <a:t>— </a:t>
            </a:r>
            <a:r>
              <a:rPr sz="1750" b="1">
                <a:solidFill>
                  <a:srgbClr val="141414"/>
                </a:solidFill>
                <a:latin typeface="Arial"/>
              </a:rPr>
              <a:t>Unsupported claims.</a:t>
            </a:r>
            <a:r>
              <a:rPr sz="1750">
                <a:solidFill>
                  <a:srgbClr val="141414"/>
                </a:solidFill>
                <a:latin typeface="Arial"/>
              </a:rPr>
              <a:t> “Yes, that works with your Mac” — with nothing behind it.</a:t>
            </a:r>
          </a:p>
        </p:txBody>
      </p:sp>
      <p:sp>
        <p:nvSpPr>
          <p:cNvPr id="6" name="Rectangle 5"/>
          <p:cNvSpPr/>
          <p:nvPr/>
        </p:nvSpPr>
        <p:spPr>
          <a:xfrm>
            <a:off x="6720840" y="2103120"/>
            <a:ext cx="4663440" cy="2286000"/>
          </a:xfrm>
          <a:prstGeom prst="rect">
            <a:avLst/>
          </a:prstGeom>
          <a:solidFill>
            <a:srgbClr val="F2F4F3"/>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2487168"/>
            <a:ext cx="3931920" cy="1645920"/>
          </a:xfrm>
          <a:prstGeom prst="rect">
            <a:avLst/>
          </a:prstGeom>
          <a:noFill/>
        </p:spPr>
        <p:txBody>
          <a:bodyPr wrap="square" lIns="0" rIns="0" tIns="0" bIns="0">
            <a:spAutoFit/>
          </a:bodyPr>
          <a:lstStyle/>
          <a:p>
            <a:pPr algn="ctr">
              <a:lnSpc>
                <a:spcPct val="135000"/>
              </a:lnSpc>
              <a:spcAft>
                <a:spcPts val="600"/>
              </a:spcAft>
            </a:pPr>
            <a:r>
              <a:rPr sz="2300" b="0" i="1">
                <a:solidFill>
                  <a:srgbClr val="141414"/>
                </a:solidFill>
                <a:latin typeface="Georgia"/>
              </a:rPr>
              <a:t>“something for editing
4K video on a budget”</a:t>
            </a:r>
          </a:p>
        </p:txBody>
      </p:sp>
      <p:sp>
        <p:nvSpPr>
          <p:cNvPr id="8" name="TextBox 7"/>
          <p:cNvSpPr txBox="1"/>
          <p:nvPr/>
        </p:nvSpPr>
        <p:spPr>
          <a:xfrm>
            <a:off x="6720840" y="4590288"/>
            <a:ext cx="4663440" cy="822960"/>
          </a:xfrm>
          <a:prstGeom prst="rect">
            <a:avLst/>
          </a:prstGeom>
          <a:noFill/>
        </p:spPr>
        <p:txBody>
          <a:bodyPr wrap="square" lIns="0" rIns="0" tIns="0" bIns="0">
            <a:spAutoFit/>
          </a:bodyPr>
          <a:lstStyle/>
          <a:p>
            <a:pPr algn="ctr">
              <a:lnSpc>
                <a:spcPct val="125000"/>
              </a:lnSpc>
              <a:spcAft>
                <a:spcPts val="600"/>
              </a:spcAft>
            </a:pPr>
            <a:r>
              <a:rPr sz="1500" b="0" i="0">
                <a:solidFill>
                  <a:srgbClr val="6A6A6A"/>
                </a:solidFill>
                <a:latin typeface="Arial"/>
              </a:rPr>
              <a:t>Conventional search cannot answer this. It has no notion of what the sentence is for.</a:t>
            </a:r>
          </a:p>
        </p:txBody>
      </p:sp>
      <p:sp>
        <p:nvSpPr>
          <p:cNvPr id="9" name="TextBox 8"/>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WHY AN AGENT</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Three properties make a single model call insufficient</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103120"/>
            <a:ext cx="3291840" cy="2651760"/>
          </a:xfrm>
          <a:prstGeom prst="rect">
            <a:avLst/>
          </a:prstGeom>
          <a:solidFill>
            <a:srgbClr val="FFFFFF"/>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359152"/>
            <a:ext cx="548640" cy="365760"/>
          </a:xfrm>
          <a:prstGeom prst="rect">
            <a:avLst/>
          </a:prstGeom>
          <a:noFill/>
        </p:spPr>
        <p:txBody>
          <a:bodyPr wrap="square" lIns="0" rIns="0" tIns="0" bIns="0">
            <a:spAutoFit/>
          </a:bodyPr>
          <a:lstStyle/>
          <a:p>
            <a:pPr algn="l">
              <a:lnSpc>
                <a:spcPct val="115000"/>
              </a:lnSpc>
              <a:spcAft>
                <a:spcPts val="600"/>
              </a:spcAft>
            </a:pPr>
            <a:r>
              <a:rPr sz="1500" b="1" i="0">
                <a:solidFill>
                  <a:srgbClr val="0A5C52"/>
                </a:solidFill>
                <a:latin typeface="Arial"/>
              </a:rPr>
              <a:t>01</a:t>
            </a:r>
          </a:p>
        </p:txBody>
      </p:sp>
      <p:sp>
        <p:nvSpPr>
          <p:cNvPr id="7" name="TextBox 6"/>
          <p:cNvSpPr txBox="1"/>
          <p:nvPr/>
        </p:nvSpPr>
        <p:spPr>
          <a:xfrm>
            <a:off x="1069848" y="2761488"/>
            <a:ext cx="2743200" cy="457200"/>
          </a:xfrm>
          <a:prstGeom prst="rect">
            <a:avLst/>
          </a:prstGeom>
          <a:noFill/>
        </p:spPr>
        <p:txBody>
          <a:bodyPr wrap="square" lIns="0" rIns="0" tIns="0" bIns="0">
            <a:spAutoFit/>
          </a:bodyPr>
          <a:lstStyle/>
          <a:p>
            <a:pPr algn="l">
              <a:lnSpc>
                <a:spcPct val="115000"/>
              </a:lnSpc>
              <a:spcAft>
                <a:spcPts val="600"/>
              </a:spcAft>
            </a:pPr>
            <a:r>
              <a:rPr sz="2000" b="0" i="0">
                <a:solidFill>
                  <a:srgbClr val="141414"/>
                </a:solidFill>
                <a:latin typeface="Georgia"/>
              </a:rPr>
              <a:t>Unknown depth</a:t>
            </a:r>
          </a:p>
        </p:txBody>
      </p:sp>
      <p:sp>
        <p:nvSpPr>
          <p:cNvPr id="8" name="TextBox 7"/>
          <p:cNvSpPr txBox="1"/>
          <p:nvPr/>
        </p:nvSpPr>
        <p:spPr>
          <a:xfrm>
            <a:off x="1069848" y="3310128"/>
            <a:ext cx="2743200" cy="1280160"/>
          </a:xfrm>
          <a:prstGeom prst="rect">
            <a:avLst/>
          </a:prstGeom>
          <a:noFill/>
        </p:spPr>
        <p:txBody>
          <a:bodyPr wrap="square" lIns="0" rIns="0" tIns="0" bIns="0">
            <a:spAutoFit/>
          </a:bodyPr>
          <a:lstStyle/>
          <a:p>
            <a:pPr algn="l">
              <a:lnSpc>
                <a:spcPct val="130000"/>
              </a:lnSpc>
              <a:spcAft>
                <a:spcPts val="600"/>
              </a:spcAft>
            </a:pPr>
            <a:r>
              <a:rPr sz="1450" b="0" i="0">
                <a:solidFill>
                  <a:srgbClr val="6A6A6A"/>
                </a:solidFill>
                <a:latin typeface="Arial"/>
              </a:rPr>
              <a:t>How many steps are needed is not knowable before the conversation starts.</a:t>
            </a:r>
          </a:p>
        </p:txBody>
      </p:sp>
      <p:sp>
        <p:nvSpPr>
          <p:cNvPr id="9" name="Rectangle 8"/>
          <p:cNvSpPr/>
          <p:nvPr/>
        </p:nvSpPr>
        <p:spPr>
          <a:xfrm>
            <a:off x="4434840" y="2103120"/>
            <a:ext cx="3291840" cy="2651760"/>
          </a:xfrm>
          <a:prstGeom prst="rect">
            <a:avLst/>
          </a:prstGeom>
          <a:solidFill>
            <a:srgbClr val="FFFFFF"/>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27448" y="2359152"/>
            <a:ext cx="548640" cy="365760"/>
          </a:xfrm>
          <a:prstGeom prst="rect">
            <a:avLst/>
          </a:prstGeom>
          <a:noFill/>
        </p:spPr>
        <p:txBody>
          <a:bodyPr wrap="square" lIns="0" rIns="0" tIns="0" bIns="0">
            <a:spAutoFit/>
          </a:bodyPr>
          <a:lstStyle/>
          <a:p>
            <a:pPr algn="l">
              <a:lnSpc>
                <a:spcPct val="115000"/>
              </a:lnSpc>
              <a:spcAft>
                <a:spcPts val="600"/>
              </a:spcAft>
            </a:pPr>
            <a:r>
              <a:rPr sz="1500" b="1" i="0">
                <a:solidFill>
                  <a:srgbClr val="0A5C52"/>
                </a:solidFill>
                <a:latin typeface="Arial"/>
              </a:rPr>
              <a:t>02</a:t>
            </a:r>
          </a:p>
        </p:txBody>
      </p:sp>
      <p:sp>
        <p:nvSpPr>
          <p:cNvPr id="11" name="TextBox 10"/>
          <p:cNvSpPr txBox="1"/>
          <p:nvPr/>
        </p:nvSpPr>
        <p:spPr>
          <a:xfrm>
            <a:off x="4727448" y="2761488"/>
            <a:ext cx="2743200" cy="457200"/>
          </a:xfrm>
          <a:prstGeom prst="rect">
            <a:avLst/>
          </a:prstGeom>
          <a:noFill/>
        </p:spPr>
        <p:txBody>
          <a:bodyPr wrap="square" lIns="0" rIns="0" tIns="0" bIns="0">
            <a:spAutoFit/>
          </a:bodyPr>
          <a:lstStyle/>
          <a:p>
            <a:pPr algn="l">
              <a:lnSpc>
                <a:spcPct val="115000"/>
              </a:lnSpc>
              <a:spcAft>
                <a:spcPts val="600"/>
              </a:spcAft>
            </a:pPr>
            <a:r>
              <a:rPr sz="2000" b="0" i="0">
                <a:solidFill>
                  <a:srgbClr val="141414"/>
                </a:solidFill>
                <a:latin typeface="Georgia"/>
              </a:rPr>
              <a:t>External truth</a:t>
            </a:r>
          </a:p>
        </p:txBody>
      </p:sp>
      <p:sp>
        <p:nvSpPr>
          <p:cNvPr id="12" name="TextBox 11"/>
          <p:cNvSpPr txBox="1"/>
          <p:nvPr/>
        </p:nvSpPr>
        <p:spPr>
          <a:xfrm>
            <a:off x="4727448" y="3310128"/>
            <a:ext cx="2743200" cy="1280160"/>
          </a:xfrm>
          <a:prstGeom prst="rect">
            <a:avLst/>
          </a:prstGeom>
          <a:noFill/>
        </p:spPr>
        <p:txBody>
          <a:bodyPr wrap="square" lIns="0" rIns="0" tIns="0" bIns="0">
            <a:spAutoFit/>
          </a:bodyPr>
          <a:lstStyle/>
          <a:p>
            <a:pPr algn="l">
              <a:lnSpc>
                <a:spcPct val="130000"/>
              </a:lnSpc>
              <a:spcAft>
                <a:spcPts val="600"/>
              </a:spcAft>
            </a:pPr>
            <a:r>
              <a:rPr sz="1450" b="0" i="0">
                <a:solidFill>
                  <a:srgbClr val="6A6A6A"/>
                </a:solidFill>
                <a:latin typeface="Arial"/>
              </a:rPr>
              <a:t>The answer lives in a catalogue that changes hourly. A recalled price is worse than no price.</a:t>
            </a:r>
          </a:p>
        </p:txBody>
      </p:sp>
      <p:sp>
        <p:nvSpPr>
          <p:cNvPr id="13" name="Rectangle 12"/>
          <p:cNvSpPr/>
          <p:nvPr/>
        </p:nvSpPr>
        <p:spPr>
          <a:xfrm>
            <a:off x="8092440" y="2103120"/>
            <a:ext cx="3291840" cy="2651760"/>
          </a:xfrm>
          <a:prstGeom prst="rect">
            <a:avLst/>
          </a:prstGeom>
          <a:solidFill>
            <a:srgbClr val="FFFFFF"/>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8" y="2359152"/>
            <a:ext cx="548640" cy="365760"/>
          </a:xfrm>
          <a:prstGeom prst="rect">
            <a:avLst/>
          </a:prstGeom>
          <a:noFill/>
        </p:spPr>
        <p:txBody>
          <a:bodyPr wrap="square" lIns="0" rIns="0" tIns="0" bIns="0">
            <a:spAutoFit/>
          </a:bodyPr>
          <a:lstStyle/>
          <a:p>
            <a:pPr algn="l">
              <a:lnSpc>
                <a:spcPct val="115000"/>
              </a:lnSpc>
              <a:spcAft>
                <a:spcPts val="600"/>
              </a:spcAft>
            </a:pPr>
            <a:r>
              <a:rPr sz="1500" b="1" i="0">
                <a:solidFill>
                  <a:srgbClr val="0A5C52"/>
                </a:solidFill>
                <a:latin typeface="Arial"/>
              </a:rPr>
              <a:t>03</a:t>
            </a:r>
          </a:p>
        </p:txBody>
      </p:sp>
      <p:sp>
        <p:nvSpPr>
          <p:cNvPr id="15" name="TextBox 14"/>
          <p:cNvSpPr txBox="1"/>
          <p:nvPr/>
        </p:nvSpPr>
        <p:spPr>
          <a:xfrm>
            <a:off x="8385048" y="2761488"/>
            <a:ext cx="2743200" cy="457200"/>
          </a:xfrm>
          <a:prstGeom prst="rect">
            <a:avLst/>
          </a:prstGeom>
          <a:noFill/>
        </p:spPr>
        <p:txBody>
          <a:bodyPr wrap="square" lIns="0" rIns="0" tIns="0" bIns="0">
            <a:spAutoFit/>
          </a:bodyPr>
          <a:lstStyle/>
          <a:p>
            <a:pPr algn="l">
              <a:lnSpc>
                <a:spcPct val="115000"/>
              </a:lnSpc>
              <a:spcAft>
                <a:spcPts val="600"/>
              </a:spcAft>
            </a:pPr>
            <a:r>
              <a:rPr sz="2000" b="0" i="0">
                <a:solidFill>
                  <a:srgbClr val="141414"/>
                </a:solidFill>
                <a:latin typeface="Georgia"/>
              </a:rPr>
              <a:t>Recoverable failure</a:t>
            </a:r>
          </a:p>
        </p:txBody>
      </p:sp>
      <p:sp>
        <p:nvSpPr>
          <p:cNvPr id="16" name="TextBox 15"/>
          <p:cNvSpPr txBox="1"/>
          <p:nvPr/>
        </p:nvSpPr>
        <p:spPr>
          <a:xfrm>
            <a:off x="8385048" y="3310128"/>
            <a:ext cx="2743200" cy="1280160"/>
          </a:xfrm>
          <a:prstGeom prst="rect">
            <a:avLst/>
          </a:prstGeom>
          <a:noFill/>
        </p:spPr>
        <p:txBody>
          <a:bodyPr wrap="square" lIns="0" rIns="0" tIns="0" bIns="0">
            <a:spAutoFit/>
          </a:bodyPr>
          <a:lstStyle/>
          <a:p>
            <a:pPr algn="l">
              <a:lnSpc>
                <a:spcPct val="130000"/>
              </a:lnSpc>
              <a:spcAft>
                <a:spcPts val="600"/>
              </a:spcAft>
            </a:pPr>
            <a:r>
              <a:rPr sz="1450" b="0" i="0">
                <a:solidFill>
                  <a:srgbClr val="6A6A6A"/>
                </a:solidFill>
                <a:latin typeface="Arial"/>
              </a:rPr>
              <a:t>Searches come back empty or off-target often. The system must notice and re-query.</a:t>
            </a:r>
          </a:p>
        </p:txBody>
      </p:sp>
      <p:sp>
        <p:nvSpPr>
          <p:cNvPr id="17" name="TextBox 16"/>
          <p:cNvSpPr txBox="1"/>
          <p:nvPr/>
        </p:nvSpPr>
        <p:spPr>
          <a:xfrm>
            <a:off x="777240" y="5138928"/>
            <a:ext cx="10607040" cy="822960"/>
          </a:xfrm>
          <a:prstGeom prst="rect">
            <a:avLst/>
          </a:prstGeom>
          <a:noFill/>
        </p:spPr>
        <p:txBody>
          <a:bodyPr wrap="square" lIns="0" rIns="0" tIns="0" bIns="0">
            <a:spAutoFit/>
          </a:bodyPr>
          <a:lstStyle/>
          <a:p>
            <a:pPr algn="l">
              <a:lnSpc>
                <a:spcPct val="130000"/>
              </a:lnSpc>
              <a:spcAft>
                <a:spcPts val="600"/>
              </a:spcAft>
            </a:pPr>
            <a:r>
              <a:rPr sz="1700" b="0" i="1">
                <a:solidFill>
                  <a:srgbClr val="141414"/>
                </a:solidFill>
                <a:latin typeface="Georgia"/>
              </a:rPr>
              <a:t>So the system plans, calls tools, observes results, corrects itself, and stops on an explicit condition — the standard agent loop.</a:t>
            </a:r>
          </a:p>
        </p:txBody>
      </p:sp>
      <p:sp>
        <p:nvSpPr>
          <p:cNvPr id="18" name="TextBox 17"/>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SYSTEM ARCHITECTURE</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Three processes, one trust boundary</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png"/>
          <p:cNvPicPr>
            <a:picLocks noChangeAspect="1"/>
          </p:cNvPicPr>
          <p:nvPr/>
        </p:nvPicPr>
        <p:blipFill>
          <a:blip r:embed="rId3"/>
          <a:stretch>
            <a:fillRect/>
          </a:stretch>
        </p:blipFill>
        <p:spPr>
          <a:xfrm>
            <a:off x="3102672" y="1874519"/>
            <a:ext cx="5986351" cy="3246120"/>
          </a:xfrm>
          <a:prstGeom prst="rect">
            <a:avLst/>
          </a:prstGeom>
        </p:spPr>
      </p:pic>
      <p:sp>
        <p:nvSpPr>
          <p:cNvPr id="6" name="TextBox 5"/>
          <p:cNvSpPr txBox="1"/>
          <p:nvPr/>
        </p:nvSpPr>
        <p:spPr>
          <a:xfrm>
            <a:off x="777240" y="5321807"/>
            <a:ext cx="10607040" cy="822960"/>
          </a:xfrm>
          <a:prstGeom prst="rect">
            <a:avLst/>
          </a:prstGeom>
          <a:noFill/>
        </p:spPr>
        <p:txBody>
          <a:bodyPr wrap="square" lIns="0" rIns="0" tIns="0" bIns="0">
            <a:spAutoFit/>
          </a:bodyPr>
          <a:lstStyle/>
          <a:p>
            <a:pPr algn="ctr">
              <a:lnSpc>
                <a:spcPct val="130000"/>
              </a:lnSpc>
              <a:spcAft>
                <a:spcPts val="600"/>
              </a:spcAft>
            </a:pPr>
            <a:r>
              <a:rPr sz="1500" b="0" i="0">
                <a:solidFill>
                  <a:srgbClr val="6A6A6A"/>
                </a:solidFill>
                <a:latin typeface="Arial"/>
              </a:rPr>
              <a:t>The agent service (heavy outline) is the only process holding catalogue, model or search credentials. The web layer proxies everything across an authenticated boundary.</a:t>
            </a:r>
          </a:p>
        </p:txBody>
      </p:sp>
      <p:sp>
        <p:nvSpPr>
          <p:cNvPr id="7" name="TextBox 6"/>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ENGINEERING</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What the system is actually built from</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65960"/>
            <a:ext cx="2514600" cy="2697480"/>
          </a:xfrm>
          <a:prstGeom prst="rect">
            <a:avLst/>
          </a:prstGeom>
          <a:solidFill>
            <a:srgbClr val="FFFFFF"/>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2194560" cy="320040"/>
          </a:xfrm>
          <a:prstGeom prst="rect">
            <a:avLst/>
          </a:prstGeom>
          <a:noFill/>
        </p:spPr>
        <p:txBody>
          <a:bodyPr wrap="square" lIns="0" rIns="0" tIns="0" bIns="0">
            <a:spAutoFit/>
          </a:bodyPr>
          <a:lstStyle/>
          <a:p>
            <a:pPr algn="l">
              <a:lnSpc>
                <a:spcPct val="115000"/>
              </a:lnSpc>
              <a:spcAft>
                <a:spcPts val="600"/>
              </a:spcAft>
            </a:pPr>
            <a:r>
              <a:rPr sz="1650" b="1" i="0">
                <a:solidFill>
                  <a:srgbClr val="0A5C52"/>
                </a:solidFill>
                <a:latin typeface="Arial"/>
              </a:rPr>
              <a:t>Frontend</a:t>
            </a:r>
          </a:p>
        </p:txBody>
      </p:sp>
      <p:sp>
        <p:nvSpPr>
          <p:cNvPr id="7" name="TextBox 6"/>
          <p:cNvSpPr txBox="1"/>
          <p:nvPr/>
        </p:nvSpPr>
        <p:spPr>
          <a:xfrm>
            <a:off x="1005840" y="2606040"/>
            <a:ext cx="2148840" cy="1920240"/>
          </a:xfrm>
          <a:prstGeom prst="rect">
            <a:avLst/>
          </a:prstGeom>
          <a:noFill/>
        </p:spPr>
        <p:txBody>
          <a:bodyPr wrap="square" lIns="0" rIns="0" tIns="0" bIns="0">
            <a:spAutoFit/>
          </a:bodyPr>
          <a:lstStyle/>
          <a:p>
            <a:pPr>
              <a:lnSpc>
                <a:spcPct val="115000"/>
              </a:lnSpc>
              <a:spcAft>
                <a:spcPts val="700"/>
              </a:spcAft>
            </a:pPr>
            <a:r>
              <a:rPr sz="1300">
                <a:solidFill>
                  <a:srgbClr val="141414"/>
                </a:solidFill>
                <a:latin typeface="Arial"/>
              </a:rPr>
              <a:t>Next.js 16 App Router</a:t>
            </a:r>
          </a:p>
          <a:p>
            <a:pPr>
              <a:lnSpc>
                <a:spcPct val="115000"/>
              </a:lnSpc>
              <a:spcAft>
                <a:spcPts val="700"/>
              </a:spcAft>
            </a:pPr>
            <a:r>
              <a:rPr sz="1300">
                <a:solidFill>
                  <a:srgbClr val="141414"/>
                </a:solidFill>
                <a:latin typeface="Arial"/>
              </a:rPr>
              <a:t>React 19, server components</a:t>
            </a:r>
          </a:p>
          <a:p>
            <a:pPr>
              <a:lnSpc>
                <a:spcPct val="115000"/>
              </a:lnSpc>
              <a:spcAft>
                <a:spcPts val="700"/>
              </a:spcAft>
            </a:pPr>
            <a:r>
              <a:rPr sz="1300">
                <a:solidFill>
                  <a:srgbClr val="141414"/>
                </a:solidFill>
                <a:latin typeface="Arial"/>
              </a:rPr>
              <a:t>Tailwind CSS, shadcn/ui, Radix</a:t>
            </a:r>
          </a:p>
          <a:p>
            <a:pPr>
              <a:lnSpc>
                <a:spcPct val="115000"/>
              </a:lnSpc>
              <a:spcAft>
                <a:spcPts val="700"/>
              </a:spcAft>
            </a:pPr>
            <a:r>
              <a:rPr sz="1300">
                <a:solidFill>
                  <a:srgbClr val="141414"/>
                </a:solidFill>
                <a:latin typeface="Arial"/>
              </a:rPr>
              <a:t>SWR, next-auth</a:t>
            </a:r>
          </a:p>
        </p:txBody>
      </p:sp>
      <p:sp>
        <p:nvSpPr>
          <p:cNvPr id="8" name="Rectangle 7"/>
          <p:cNvSpPr/>
          <p:nvPr/>
        </p:nvSpPr>
        <p:spPr>
          <a:xfrm>
            <a:off x="3538728" y="1965960"/>
            <a:ext cx="2514600" cy="2697480"/>
          </a:xfrm>
          <a:prstGeom prst="rect">
            <a:avLst/>
          </a:prstGeom>
          <a:solidFill>
            <a:srgbClr val="FFFFFF"/>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67328" y="2194560"/>
            <a:ext cx="2194560" cy="320040"/>
          </a:xfrm>
          <a:prstGeom prst="rect">
            <a:avLst/>
          </a:prstGeom>
          <a:noFill/>
        </p:spPr>
        <p:txBody>
          <a:bodyPr wrap="square" lIns="0" rIns="0" tIns="0" bIns="0">
            <a:spAutoFit/>
          </a:bodyPr>
          <a:lstStyle/>
          <a:p>
            <a:pPr algn="l">
              <a:lnSpc>
                <a:spcPct val="115000"/>
              </a:lnSpc>
              <a:spcAft>
                <a:spcPts val="600"/>
              </a:spcAft>
            </a:pPr>
            <a:r>
              <a:rPr sz="1650" b="1" i="0">
                <a:solidFill>
                  <a:srgbClr val="0A5C52"/>
                </a:solidFill>
                <a:latin typeface="Arial"/>
              </a:rPr>
              <a:t>Agent service</a:t>
            </a:r>
          </a:p>
        </p:txBody>
      </p:sp>
      <p:sp>
        <p:nvSpPr>
          <p:cNvPr id="10" name="TextBox 9"/>
          <p:cNvSpPr txBox="1"/>
          <p:nvPr/>
        </p:nvSpPr>
        <p:spPr>
          <a:xfrm>
            <a:off x="3767328" y="2606040"/>
            <a:ext cx="2148840" cy="1920240"/>
          </a:xfrm>
          <a:prstGeom prst="rect">
            <a:avLst/>
          </a:prstGeom>
          <a:noFill/>
        </p:spPr>
        <p:txBody>
          <a:bodyPr wrap="square" lIns="0" rIns="0" tIns="0" bIns="0">
            <a:spAutoFit/>
          </a:bodyPr>
          <a:lstStyle/>
          <a:p>
            <a:pPr>
              <a:lnSpc>
                <a:spcPct val="115000"/>
              </a:lnSpc>
              <a:spcAft>
                <a:spcPts val="700"/>
              </a:spcAft>
            </a:pPr>
            <a:r>
              <a:rPr sz="1300">
                <a:solidFill>
                  <a:srgbClr val="141414"/>
                </a:solidFill>
                <a:latin typeface="Arial"/>
              </a:rPr>
              <a:t>Node.js, strict TypeScript</a:t>
            </a:r>
          </a:p>
          <a:p>
            <a:pPr>
              <a:lnSpc>
                <a:spcPct val="115000"/>
              </a:lnSpc>
              <a:spcAft>
                <a:spcPts val="700"/>
              </a:spcAft>
            </a:pPr>
            <a:r>
              <a:rPr sz="1300">
                <a:solidFill>
                  <a:srgbClr val="141414"/>
                </a:solidFill>
                <a:latin typeface="Arial"/>
              </a:rPr>
              <a:t>Vercel AI SDK — streamText</a:t>
            </a:r>
          </a:p>
          <a:p>
            <a:pPr>
              <a:lnSpc>
                <a:spcPct val="115000"/>
              </a:lnSpc>
              <a:spcAft>
                <a:spcPts val="700"/>
              </a:spcAft>
            </a:pPr>
            <a:r>
              <a:rPr sz="1300">
                <a:solidFill>
                  <a:srgbClr val="141414"/>
                </a:solidFill>
                <a:latin typeface="Arial"/>
              </a:rPr>
              <a:t>Zod schemas on every tool</a:t>
            </a:r>
          </a:p>
          <a:p>
            <a:pPr>
              <a:lnSpc>
                <a:spcPct val="115000"/>
              </a:lnSpc>
              <a:spcAft>
                <a:spcPts val="700"/>
              </a:spcAft>
            </a:pPr>
            <a:r>
              <a:rPr sz="1300">
                <a:solidFill>
                  <a:srgbClr val="141414"/>
                </a:solidFill>
                <a:latin typeface="Arial"/>
              </a:rPr>
              <a:t>Hand-written MCP client</a:t>
            </a:r>
          </a:p>
        </p:txBody>
      </p:sp>
      <p:sp>
        <p:nvSpPr>
          <p:cNvPr id="11" name="Rectangle 10"/>
          <p:cNvSpPr/>
          <p:nvPr/>
        </p:nvSpPr>
        <p:spPr>
          <a:xfrm>
            <a:off x="6300216" y="1965960"/>
            <a:ext cx="2514600" cy="2697480"/>
          </a:xfrm>
          <a:prstGeom prst="rect">
            <a:avLst/>
          </a:prstGeom>
          <a:solidFill>
            <a:srgbClr val="FFFFFF"/>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194560"/>
            <a:ext cx="2194560" cy="320040"/>
          </a:xfrm>
          <a:prstGeom prst="rect">
            <a:avLst/>
          </a:prstGeom>
          <a:noFill/>
        </p:spPr>
        <p:txBody>
          <a:bodyPr wrap="square" lIns="0" rIns="0" tIns="0" bIns="0">
            <a:spAutoFit/>
          </a:bodyPr>
          <a:lstStyle/>
          <a:p>
            <a:pPr algn="l">
              <a:lnSpc>
                <a:spcPct val="115000"/>
              </a:lnSpc>
              <a:spcAft>
                <a:spcPts val="600"/>
              </a:spcAft>
            </a:pPr>
            <a:r>
              <a:rPr sz="1650" b="1" i="0">
                <a:solidFill>
                  <a:srgbClr val="0A5C52"/>
                </a:solidFill>
                <a:latin typeface="Arial"/>
              </a:rPr>
              <a:t>Data</a:t>
            </a:r>
          </a:p>
        </p:txBody>
      </p:sp>
      <p:sp>
        <p:nvSpPr>
          <p:cNvPr id="13" name="TextBox 12"/>
          <p:cNvSpPr txBox="1"/>
          <p:nvPr/>
        </p:nvSpPr>
        <p:spPr>
          <a:xfrm>
            <a:off x="6528816" y="2606040"/>
            <a:ext cx="2148840" cy="1920240"/>
          </a:xfrm>
          <a:prstGeom prst="rect">
            <a:avLst/>
          </a:prstGeom>
          <a:noFill/>
        </p:spPr>
        <p:txBody>
          <a:bodyPr wrap="square" lIns="0" rIns="0" tIns="0" bIns="0">
            <a:spAutoFit/>
          </a:bodyPr>
          <a:lstStyle/>
          <a:p>
            <a:pPr>
              <a:lnSpc>
                <a:spcPct val="115000"/>
              </a:lnSpc>
              <a:spcAft>
                <a:spcPts val="700"/>
              </a:spcAft>
            </a:pPr>
            <a:r>
              <a:rPr sz="1300">
                <a:solidFill>
                  <a:srgbClr val="141414"/>
                </a:solidFill>
                <a:latin typeface="Arial"/>
              </a:rPr>
              <a:t>PostgreSQL 16, Drizzle ORM</a:t>
            </a:r>
          </a:p>
          <a:p>
            <a:pPr>
              <a:lnSpc>
                <a:spcPct val="115000"/>
              </a:lnSpc>
              <a:spcAft>
                <a:spcPts val="700"/>
              </a:spcAft>
            </a:pPr>
            <a:r>
              <a:rPr sz="1300">
                <a:solidFill>
                  <a:srgbClr val="141414"/>
                </a:solidFill>
                <a:latin typeface="Arial"/>
              </a:rPr>
              <a:t>Redis 7 for feed + evidence</a:t>
            </a:r>
          </a:p>
          <a:p>
            <a:pPr>
              <a:lnSpc>
                <a:spcPct val="115000"/>
              </a:lnSpc>
              <a:spcAft>
                <a:spcPts val="700"/>
              </a:spcAft>
            </a:pPr>
            <a:r>
              <a:rPr sz="1300">
                <a:solidFill>
                  <a:srgbClr val="141414"/>
                </a:solidFill>
                <a:latin typeface="Arial"/>
              </a:rPr>
              <a:t>Message parts stored as JSON</a:t>
            </a:r>
          </a:p>
          <a:p>
            <a:pPr>
              <a:lnSpc>
                <a:spcPct val="115000"/>
              </a:lnSpc>
              <a:spcAft>
                <a:spcPts val="700"/>
              </a:spcAft>
            </a:pPr>
            <a:r>
              <a:rPr sz="1300">
                <a:solidFill>
                  <a:srgbClr val="141414"/>
                </a:solidFill>
                <a:latin typeface="Arial"/>
              </a:rPr>
              <a:t>SSE response streaming</a:t>
            </a:r>
          </a:p>
        </p:txBody>
      </p:sp>
      <p:sp>
        <p:nvSpPr>
          <p:cNvPr id="14" name="Rectangle 13"/>
          <p:cNvSpPr/>
          <p:nvPr/>
        </p:nvSpPr>
        <p:spPr>
          <a:xfrm>
            <a:off x="9061704" y="1965960"/>
            <a:ext cx="2514600" cy="2697480"/>
          </a:xfrm>
          <a:prstGeom prst="rect">
            <a:avLst/>
          </a:prstGeom>
          <a:solidFill>
            <a:srgbClr val="FFFFFF"/>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0304" y="2194560"/>
            <a:ext cx="2194560" cy="320040"/>
          </a:xfrm>
          <a:prstGeom prst="rect">
            <a:avLst/>
          </a:prstGeom>
          <a:noFill/>
        </p:spPr>
        <p:txBody>
          <a:bodyPr wrap="square" lIns="0" rIns="0" tIns="0" bIns="0">
            <a:spAutoFit/>
          </a:bodyPr>
          <a:lstStyle/>
          <a:p>
            <a:pPr algn="l">
              <a:lnSpc>
                <a:spcPct val="115000"/>
              </a:lnSpc>
              <a:spcAft>
                <a:spcPts val="600"/>
              </a:spcAft>
            </a:pPr>
            <a:r>
              <a:rPr sz="1650" b="1" i="0">
                <a:solidFill>
                  <a:srgbClr val="0A5C52"/>
                </a:solidFill>
                <a:latin typeface="Arial"/>
              </a:rPr>
              <a:t>Verification</a:t>
            </a:r>
          </a:p>
        </p:txBody>
      </p:sp>
      <p:sp>
        <p:nvSpPr>
          <p:cNvPr id="16" name="TextBox 15"/>
          <p:cNvSpPr txBox="1"/>
          <p:nvPr/>
        </p:nvSpPr>
        <p:spPr>
          <a:xfrm>
            <a:off x="9290304" y="2606040"/>
            <a:ext cx="2148840" cy="1920240"/>
          </a:xfrm>
          <a:prstGeom prst="rect">
            <a:avLst/>
          </a:prstGeom>
          <a:noFill/>
        </p:spPr>
        <p:txBody>
          <a:bodyPr wrap="square" lIns="0" rIns="0" tIns="0" bIns="0">
            <a:spAutoFit/>
          </a:bodyPr>
          <a:lstStyle/>
          <a:p>
            <a:pPr>
              <a:lnSpc>
                <a:spcPct val="115000"/>
              </a:lnSpc>
              <a:spcAft>
                <a:spcPts val="700"/>
              </a:spcAft>
            </a:pPr>
            <a:r>
              <a:rPr sz="1300">
                <a:solidFill>
                  <a:srgbClr val="141414"/>
                </a:solidFill>
                <a:latin typeface="Arial"/>
              </a:rPr>
              <a:t>Vitest — unit and routes</a:t>
            </a:r>
          </a:p>
          <a:p>
            <a:pPr>
              <a:lnSpc>
                <a:spcPct val="115000"/>
              </a:lnSpc>
              <a:spcAft>
                <a:spcPts val="700"/>
              </a:spcAft>
            </a:pPr>
            <a:r>
              <a:rPr sz="1300">
                <a:solidFill>
                  <a:srgbClr val="141414"/>
                </a:solidFill>
                <a:latin typeface="Arial"/>
              </a:rPr>
              <a:t>Playwright — end to end</a:t>
            </a:r>
          </a:p>
          <a:p>
            <a:pPr>
              <a:lnSpc>
                <a:spcPct val="115000"/>
              </a:lnSpc>
              <a:spcAft>
                <a:spcPts val="700"/>
              </a:spcAft>
            </a:pPr>
            <a:r>
              <a:rPr sz="1300">
                <a:solidFill>
                  <a:srgbClr val="141414"/>
                </a:solidFill>
                <a:latin typeface="Arial"/>
              </a:rPr>
              <a:t>Scenario harness — behaviour</a:t>
            </a:r>
          </a:p>
          <a:p>
            <a:pPr>
              <a:lnSpc>
                <a:spcPct val="115000"/>
              </a:lnSpc>
              <a:spcAft>
                <a:spcPts val="700"/>
              </a:spcAft>
            </a:pPr>
            <a:r>
              <a:rPr sz="1300">
                <a:solidFill>
                  <a:srgbClr val="141414"/>
                </a:solidFill>
                <a:latin typeface="Arial"/>
              </a:rPr>
              <a:t>Static type checking</a:t>
            </a:r>
          </a:p>
        </p:txBody>
      </p:sp>
      <p:sp>
        <p:nvSpPr>
          <p:cNvPr id="17" name="Rectangle 16"/>
          <p:cNvSpPr/>
          <p:nvPr/>
        </p:nvSpPr>
        <p:spPr>
          <a:xfrm>
            <a:off x="777240" y="495604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193792"/>
            <a:ext cx="4937760" cy="310896"/>
          </a:xfrm>
          <a:prstGeom prst="rect">
            <a:avLst/>
          </a:prstGeom>
          <a:noFill/>
        </p:spPr>
        <p:txBody>
          <a:bodyPr wrap="square" lIns="0" rIns="0" tIns="0" bIns="0">
            <a:spAutoFit/>
          </a:bodyPr>
          <a:lstStyle/>
          <a:p>
            <a:pPr algn="l">
              <a:lnSpc>
                <a:spcPct val="115000"/>
              </a:lnSpc>
              <a:spcAft>
                <a:spcPts val="600"/>
              </a:spcAft>
            </a:pPr>
            <a:r>
              <a:rPr sz="1600" b="1" i="0">
                <a:solidFill>
                  <a:srgbClr val="0A5C52"/>
                </a:solidFill>
                <a:latin typeface="Arial"/>
              </a:rPr>
              <a:t>29 models</a:t>
            </a:r>
          </a:p>
        </p:txBody>
      </p:sp>
      <p:sp>
        <p:nvSpPr>
          <p:cNvPr id="19" name="TextBox 18"/>
          <p:cNvSpPr txBox="1"/>
          <p:nvPr/>
        </p:nvSpPr>
        <p:spPr>
          <a:xfrm>
            <a:off x="777240" y="5522976"/>
            <a:ext cx="4937760" cy="731520"/>
          </a:xfrm>
          <a:prstGeom prst="rect">
            <a:avLst/>
          </a:prstGeom>
          <a:noFill/>
        </p:spPr>
        <p:txBody>
          <a:bodyPr wrap="square" lIns="0" rIns="0" tIns="0" bIns="0">
            <a:spAutoFit/>
          </a:bodyPr>
          <a:lstStyle/>
          <a:p>
            <a:pPr algn="l">
              <a:lnSpc>
                <a:spcPct val="125000"/>
              </a:lnSpc>
              <a:spcAft>
                <a:spcPts val="600"/>
              </a:spcAft>
            </a:pPr>
            <a:r>
              <a:rPr sz="1350" b="0" i="0">
                <a:solidFill>
                  <a:srgbClr val="6A6A6A"/>
                </a:solidFill>
                <a:latin typeface="Arial"/>
              </a:rPr>
              <a:t>selectable at run time, 22 tool-capable — lets policy failures be separated from model failures</a:t>
            </a:r>
          </a:p>
        </p:txBody>
      </p:sp>
      <p:sp>
        <p:nvSpPr>
          <p:cNvPr id="20" name="TextBox 19"/>
          <p:cNvSpPr txBox="1"/>
          <p:nvPr/>
        </p:nvSpPr>
        <p:spPr>
          <a:xfrm>
            <a:off x="6217920" y="5193792"/>
            <a:ext cx="4937760" cy="310896"/>
          </a:xfrm>
          <a:prstGeom prst="rect">
            <a:avLst/>
          </a:prstGeom>
          <a:noFill/>
        </p:spPr>
        <p:txBody>
          <a:bodyPr wrap="square" lIns="0" rIns="0" tIns="0" bIns="0">
            <a:spAutoFit/>
          </a:bodyPr>
          <a:lstStyle/>
          <a:p>
            <a:pPr algn="l">
              <a:lnSpc>
                <a:spcPct val="115000"/>
              </a:lnSpc>
              <a:spcAft>
                <a:spcPts val="600"/>
              </a:spcAft>
            </a:pPr>
            <a:r>
              <a:rPr sz="1600" b="1" i="0">
                <a:solidFill>
                  <a:srgbClr val="0A5C52"/>
                </a:solidFill>
                <a:latin typeface="Arial"/>
              </a:rPr>
              <a:t>JSON-RPC 2.0</a:t>
            </a:r>
          </a:p>
        </p:txBody>
      </p:sp>
      <p:sp>
        <p:nvSpPr>
          <p:cNvPr id="21" name="TextBox 20"/>
          <p:cNvSpPr txBox="1"/>
          <p:nvPr/>
        </p:nvSpPr>
        <p:spPr>
          <a:xfrm>
            <a:off x="6217920" y="5522976"/>
            <a:ext cx="4937760" cy="731520"/>
          </a:xfrm>
          <a:prstGeom prst="rect">
            <a:avLst/>
          </a:prstGeom>
          <a:noFill/>
        </p:spPr>
        <p:txBody>
          <a:bodyPr wrap="square" lIns="0" rIns="0" tIns="0" bIns="0">
            <a:spAutoFit/>
          </a:bodyPr>
          <a:lstStyle/>
          <a:p>
            <a:pPr algn="l">
              <a:lnSpc>
                <a:spcPct val="125000"/>
              </a:lnSpc>
              <a:spcAft>
                <a:spcPts val="600"/>
              </a:spcAft>
            </a:pPr>
            <a:r>
              <a:rPr sz="1350" b="0" i="0">
                <a:solidFill>
                  <a:srgbClr val="6A6A6A"/>
                </a:solidFill>
                <a:latin typeface="Arial"/>
              </a:rPr>
              <a:t>every catalogue call is wrapped in an MCP tools/call envelope with an agent-identity header</a:t>
            </a:r>
          </a:p>
        </p:txBody>
      </p:sp>
      <p:sp>
        <p:nvSpPr>
          <p:cNvPr id="22" name="TextBox 21"/>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ONE TURN, END TO END</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Up to ten reasoning steps per message</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png"/>
          <p:cNvPicPr>
            <a:picLocks noChangeAspect="1"/>
          </p:cNvPicPr>
          <p:nvPr/>
        </p:nvPicPr>
        <p:blipFill>
          <a:blip r:embed="rId3"/>
          <a:stretch>
            <a:fillRect/>
          </a:stretch>
        </p:blipFill>
        <p:spPr>
          <a:xfrm>
            <a:off x="1470459" y="1828800"/>
            <a:ext cx="5380120" cy="4069080"/>
          </a:xfrm>
          <a:prstGeom prst="rect">
            <a:avLst/>
          </a:prstGeom>
        </p:spPr>
      </p:pic>
      <p:sp>
        <p:nvSpPr>
          <p:cNvPr id="6" name="TextBox 5"/>
          <p:cNvSpPr txBox="1"/>
          <p:nvPr/>
        </p:nvSpPr>
        <p:spPr>
          <a:xfrm>
            <a:off x="8001000" y="2148840"/>
            <a:ext cx="3566160" cy="3291840"/>
          </a:xfrm>
          <a:prstGeom prst="rect">
            <a:avLst/>
          </a:prstGeom>
          <a:noFill/>
        </p:spPr>
        <p:txBody>
          <a:bodyPr wrap="square" lIns="0" rIns="0" tIns="0" bIns="0">
            <a:spAutoFit/>
          </a:bodyPr>
          <a:lstStyle/>
          <a:p>
            <a:pPr>
              <a:lnSpc>
                <a:spcPct val="118000"/>
              </a:lnSpc>
              <a:spcAft>
                <a:spcPts val="1500"/>
              </a:spcAft>
            </a:pPr>
            <a:r>
              <a:rPr sz="1500">
                <a:solidFill>
                  <a:srgbClr val="6A6A6A"/>
                </a:solidFill>
                <a:latin typeface="Arial"/>
              </a:rPr>
              <a:t>— </a:t>
            </a:r>
            <a:r>
              <a:rPr sz="1500">
                <a:solidFill>
                  <a:srgbClr val="141414"/>
                </a:solidFill>
                <a:latin typeface="Arial"/>
              </a:rPr>
              <a:t>User message is persisted before the stream opens.</a:t>
            </a:r>
          </a:p>
          <a:p>
            <a:pPr>
              <a:lnSpc>
                <a:spcPct val="118000"/>
              </a:lnSpc>
              <a:spcAft>
                <a:spcPts val="1500"/>
              </a:spcAft>
            </a:pPr>
            <a:r>
              <a:rPr sz="1500">
                <a:solidFill>
                  <a:srgbClr val="6A6A6A"/>
                </a:solidFill>
                <a:latin typeface="Arial"/>
              </a:rPr>
              <a:t>— </a:t>
            </a:r>
            <a:r>
              <a:rPr sz="1500">
                <a:solidFill>
                  <a:srgbClr val="141414"/>
                </a:solidFill>
                <a:latin typeface="Arial"/>
              </a:rPr>
              <a:t>Working memory is rebuilt from the transcript.</a:t>
            </a:r>
          </a:p>
          <a:p>
            <a:pPr>
              <a:lnSpc>
                <a:spcPct val="118000"/>
              </a:lnSpc>
              <a:spcAft>
                <a:spcPts val="1500"/>
              </a:spcAft>
            </a:pPr>
            <a:r>
              <a:rPr sz="1500">
                <a:solidFill>
                  <a:srgbClr val="6A6A6A"/>
                </a:solidFill>
                <a:latin typeface="Arial"/>
              </a:rPr>
              <a:t>— </a:t>
            </a:r>
            <a:r>
              <a:rPr sz="1500">
                <a:solidFill>
                  <a:srgbClr val="141414"/>
                </a:solidFill>
                <a:latin typeface="Arial"/>
              </a:rPr>
              <a:t>The boxed region is the agent loop.</a:t>
            </a:r>
          </a:p>
          <a:p>
            <a:pPr>
              <a:lnSpc>
                <a:spcPct val="118000"/>
              </a:lnSpc>
              <a:spcAft>
                <a:spcPts val="1500"/>
              </a:spcAft>
            </a:pPr>
            <a:r>
              <a:rPr sz="1500">
                <a:solidFill>
                  <a:srgbClr val="6A6A6A"/>
                </a:solidFill>
                <a:latin typeface="Arial"/>
              </a:rPr>
              <a:t>— </a:t>
            </a:r>
            <a:r>
              <a:rPr sz="1500">
                <a:solidFill>
                  <a:srgbClr val="141414"/>
                </a:solidFill>
                <a:latin typeface="Arial"/>
              </a:rPr>
              <a:t>The model sees typed results, never raw network traffic.</a:t>
            </a:r>
          </a:p>
        </p:txBody>
      </p:sp>
      <p:sp>
        <p:nvSpPr>
          <p:cNvPr id="7" name="TextBox 6"/>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THE REASONING LOOP</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Bounded, with two stopping conditions</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4.png"/>
          <p:cNvPicPr>
            <a:picLocks noChangeAspect="1"/>
          </p:cNvPicPr>
          <p:nvPr/>
        </p:nvPicPr>
        <p:blipFill>
          <a:blip r:embed="rId3"/>
          <a:stretch>
            <a:fillRect/>
          </a:stretch>
        </p:blipFill>
        <p:spPr>
          <a:xfrm>
            <a:off x="1432407" y="1847088"/>
            <a:ext cx="9326880" cy="2692428"/>
          </a:xfrm>
          <a:prstGeom prst="rect">
            <a:avLst/>
          </a:prstGeom>
        </p:spPr>
      </p:pic>
      <p:sp>
        <p:nvSpPr>
          <p:cNvPr id="6" name="TextBox 5"/>
          <p:cNvSpPr txBox="1"/>
          <p:nvPr/>
        </p:nvSpPr>
        <p:spPr>
          <a:xfrm>
            <a:off x="777240" y="4813836"/>
            <a:ext cx="4937760" cy="365760"/>
          </a:xfrm>
          <a:prstGeom prst="rect">
            <a:avLst/>
          </a:prstGeom>
          <a:noFill/>
        </p:spPr>
        <p:txBody>
          <a:bodyPr wrap="square" lIns="0" rIns="0" tIns="0" bIns="0">
            <a:spAutoFit/>
          </a:bodyPr>
          <a:lstStyle/>
          <a:p>
            <a:pPr algn="l">
              <a:lnSpc>
                <a:spcPct val="115000"/>
              </a:lnSpc>
              <a:spcAft>
                <a:spcPts val="600"/>
              </a:spcAft>
            </a:pPr>
            <a:r>
              <a:rPr sz="1900" b="0" i="0">
                <a:solidFill>
                  <a:srgbClr val="0A5C52"/>
                </a:solidFill>
                <a:latin typeface="Georgia"/>
              </a:rPr>
              <a:t>Step budget</a:t>
            </a:r>
          </a:p>
        </p:txBody>
      </p:sp>
      <p:sp>
        <p:nvSpPr>
          <p:cNvPr id="7" name="TextBox 6"/>
          <p:cNvSpPr txBox="1"/>
          <p:nvPr/>
        </p:nvSpPr>
        <p:spPr>
          <a:xfrm>
            <a:off x="777240" y="5234460"/>
            <a:ext cx="4937760" cy="1005840"/>
          </a:xfrm>
          <a:prstGeom prst="rect">
            <a:avLst/>
          </a:prstGeom>
          <a:noFill/>
        </p:spPr>
        <p:txBody>
          <a:bodyPr wrap="square" lIns="0" rIns="0" tIns="0" bIns="0">
            <a:spAutoFit/>
          </a:bodyPr>
          <a:lstStyle/>
          <a:p>
            <a:pPr algn="l">
              <a:lnSpc>
                <a:spcPct val="130000"/>
              </a:lnSpc>
              <a:spcAft>
                <a:spcPts val="600"/>
              </a:spcAft>
            </a:pPr>
            <a:r>
              <a:rPr sz="1500" b="0" i="0">
                <a:solidFill>
                  <a:srgbClr val="141414"/>
                </a:solidFill>
                <a:latin typeface="Arial"/>
              </a:rPr>
              <a:t>Ten steps per turn. Bounds cost; stops a confused model looping on a failing search.</a:t>
            </a:r>
          </a:p>
        </p:txBody>
      </p:sp>
      <p:sp>
        <p:nvSpPr>
          <p:cNvPr id="8" name="TextBox 7"/>
          <p:cNvSpPr txBox="1"/>
          <p:nvPr/>
        </p:nvSpPr>
        <p:spPr>
          <a:xfrm>
            <a:off x="6217920" y="4813836"/>
            <a:ext cx="4937760" cy="365760"/>
          </a:xfrm>
          <a:prstGeom prst="rect">
            <a:avLst/>
          </a:prstGeom>
          <a:noFill/>
        </p:spPr>
        <p:txBody>
          <a:bodyPr wrap="square" lIns="0" rIns="0" tIns="0" bIns="0">
            <a:spAutoFit/>
          </a:bodyPr>
          <a:lstStyle/>
          <a:p>
            <a:pPr algn="l">
              <a:lnSpc>
                <a:spcPct val="115000"/>
              </a:lnSpc>
              <a:spcAft>
                <a:spcPts val="600"/>
              </a:spcAft>
            </a:pPr>
            <a:r>
              <a:rPr sz="1900" b="0" i="0">
                <a:solidFill>
                  <a:srgbClr val="0A5C52"/>
                </a:solidFill>
                <a:latin typeface="Georgia"/>
              </a:rPr>
              <a:t>Clarification is terminal</a:t>
            </a:r>
          </a:p>
        </p:txBody>
      </p:sp>
      <p:sp>
        <p:nvSpPr>
          <p:cNvPr id="9" name="TextBox 8"/>
          <p:cNvSpPr txBox="1"/>
          <p:nvPr/>
        </p:nvSpPr>
        <p:spPr>
          <a:xfrm>
            <a:off x="6217920" y="5234460"/>
            <a:ext cx="4937760" cy="1005840"/>
          </a:xfrm>
          <a:prstGeom prst="rect">
            <a:avLst/>
          </a:prstGeom>
          <a:noFill/>
        </p:spPr>
        <p:txBody>
          <a:bodyPr wrap="square" lIns="0" rIns="0" tIns="0" bIns="0">
            <a:spAutoFit/>
          </a:bodyPr>
          <a:lstStyle/>
          <a:p>
            <a:pPr algn="l">
              <a:lnSpc>
                <a:spcPct val="130000"/>
              </a:lnSpc>
              <a:spcAft>
                <a:spcPts val="600"/>
              </a:spcAft>
            </a:pPr>
            <a:r>
              <a:rPr sz="1500" b="0" i="0">
                <a:solidFill>
                  <a:srgbClr val="141414"/>
                </a:solidFill>
                <a:latin typeface="Arial"/>
              </a:rPr>
              <a:t>Asking the shopper a question ends the turn — enforced by the runtime, not requested in the prompt.</a:t>
            </a:r>
          </a:p>
        </p:txBody>
      </p:sp>
      <p:sp>
        <p:nvSpPr>
          <p:cNvPr id="10" name="TextBox 9"/>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TOOLS AND DECISION POLICY</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Eleven typed tools, routed by intent shape</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5.png"/>
          <p:cNvPicPr>
            <a:picLocks noChangeAspect="1"/>
          </p:cNvPicPr>
          <p:nvPr/>
        </p:nvPicPr>
        <p:blipFill>
          <a:blip r:embed="rId3"/>
          <a:stretch>
            <a:fillRect/>
          </a:stretch>
        </p:blipFill>
        <p:spPr>
          <a:xfrm>
            <a:off x="1394633" y="1874519"/>
            <a:ext cx="3702972" cy="3931920"/>
          </a:xfrm>
          <a:prstGeom prst="rect">
            <a:avLst/>
          </a:prstGeom>
        </p:spPr>
      </p:pic>
      <p:sp>
        <p:nvSpPr>
          <p:cNvPr id="6" name="TextBox 5"/>
          <p:cNvSpPr txBox="1"/>
          <p:nvPr/>
        </p:nvSpPr>
        <p:spPr>
          <a:xfrm>
            <a:off x="6446520" y="2057400"/>
            <a:ext cx="4937760" cy="310896"/>
          </a:xfrm>
          <a:prstGeom prst="rect">
            <a:avLst/>
          </a:prstGeom>
          <a:noFill/>
        </p:spPr>
        <p:txBody>
          <a:bodyPr wrap="square" lIns="0" rIns="0" tIns="0" bIns="0">
            <a:spAutoFit/>
          </a:bodyPr>
          <a:lstStyle/>
          <a:p>
            <a:pPr algn="l">
              <a:lnSpc>
                <a:spcPct val="115000"/>
              </a:lnSpc>
              <a:spcAft>
                <a:spcPts val="600"/>
              </a:spcAft>
            </a:pPr>
            <a:r>
              <a:rPr sz="1650" b="1" i="0">
                <a:solidFill>
                  <a:srgbClr val="0A5C52"/>
                </a:solidFill>
                <a:latin typeface="Arial"/>
              </a:rPr>
              <a:t>Discovery</a:t>
            </a:r>
          </a:p>
        </p:txBody>
      </p:sp>
      <p:sp>
        <p:nvSpPr>
          <p:cNvPr id="7" name="TextBox 6"/>
          <p:cNvSpPr txBox="1"/>
          <p:nvPr/>
        </p:nvSpPr>
        <p:spPr>
          <a:xfrm>
            <a:off x="6446520" y="2386584"/>
            <a:ext cx="4937760" cy="365760"/>
          </a:xfrm>
          <a:prstGeom prst="rect">
            <a:avLst/>
          </a:prstGeom>
          <a:noFill/>
        </p:spPr>
        <p:txBody>
          <a:bodyPr wrap="square" lIns="0" rIns="0" tIns="0" bIns="0">
            <a:spAutoFit/>
          </a:bodyPr>
          <a:lstStyle/>
          <a:p>
            <a:pPr algn="l">
              <a:lnSpc>
                <a:spcPct val="115000"/>
              </a:lnSpc>
              <a:spcAft>
                <a:spcPts val="600"/>
              </a:spcAft>
            </a:pPr>
            <a:r>
              <a:rPr sz="1500" b="0" i="0">
                <a:solidFill>
                  <a:srgbClr val="141414"/>
                </a:solidFill>
                <a:latin typeface="Arial"/>
              </a:rPr>
              <a:t>Search · Refine · Show more</a:t>
            </a:r>
          </a:p>
        </p:txBody>
      </p:sp>
      <p:sp>
        <p:nvSpPr>
          <p:cNvPr id="8" name="TextBox 7"/>
          <p:cNvSpPr txBox="1"/>
          <p:nvPr/>
        </p:nvSpPr>
        <p:spPr>
          <a:xfrm>
            <a:off x="6446520" y="2898648"/>
            <a:ext cx="4937760" cy="310896"/>
          </a:xfrm>
          <a:prstGeom prst="rect">
            <a:avLst/>
          </a:prstGeom>
          <a:noFill/>
        </p:spPr>
        <p:txBody>
          <a:bodyPr wrap="square" lIns="0" rIns="0" tIns="0" bIns="0">
            <a:spAutoFit/>
          </a:bodyPr>
          <a:lstStyle/>
          <a:p>
            <a:pPr algn="l">
              <a:lnSpc>
                <a:spcPct val="115000"/>
              </a:lnSpc>
              <a:spcAft>
                <a:spcPts val="600"/>
              </a:spcAft>
            </a:pPr>
            <a:r>
              <a:rPr sz="1650" b="1" i="0">
                <a:solidFill>
                  <a:srgbClr val="0A5C52"/>
                </a:solidFill>
                <a:latin typeface="Arial"/>
              </a:rPr>
              <a:t>Presentation</a:t>
            </a:r>
          </a:p>
        </p:txBody>
      </p:sp>
      <p:sp>
        <p:nvSpPr>
          <p:cNvPr id="9" name="TextBox 8"/>
          <p:cNvSpPr txBox="1"/>
          <p:nvPr/>
        </p:nvSpPr>
        <p:spPr>
          <a:xfrm>
            <a:off x="6446520" y="3227832"/>
            <a:ext cx="4937760" cy="365760"/>
          </a:xfrm>
          <a:prstGeom prst="rect">
            <a:avLst/>
          </a:prstGeom>
          <a:noFill/>
        </p:spPr>
        <p:txBody>
          <a:bodyPr wrap="square" lIns="0" rIns="0" tIns="0" bIns="0">
            <a:spAutoFit/>
          </a:bodyPr>
          <a:lstStyle/>
          <a:p>
            <a:pPr algn="l">
              <a:lnSpc>
                <a:spcPct val="115000"/>
              </a:lnSpc>
              <a:spcAft>
                <a:spcPts val="600"/>
              </a:spcAft>
            </a:pPr>
            <a:r>
              <a:rPr sz="1500" b="0" i="0">
                <a:solidFill>
                  <a:srgbClr val="141414"/>
                </a:solidFill>
                <a:latin typeface="Arial"/>
              </a:rPr>
              <a:t>Display products</a:t>
            </a:r>
          </a:p>
        </p:txBody>
      </p:sp>
      <p:sp>
        <p:nvSpPr>
          <p:cNvPr id="10" name="TextBox 9"/>
          <p:cNvSpPr txBox="1"/>
          <p:nvPr/>
        </p:nvSpPr>
        <p:spPr>
          <a:xfrm>
            <a:off x="6446520" y="3739896"/>
            <a:ext cx="4937760" cy="310896"/>
          </a:xfrm>
          <a:prstGeom prst="rect">
            <a:avLst/>
          </a:prstGeom>
          <a:noFill/>
        </p:spPr>
        <p:txBody>
          <a:bodyPr wrap="square" lIns="0" rIns="0" tIns="0" bIns="0">
            <a:spAutoFit/>
          </a:bodyPr>
          <a:lstStyle/>
          <a:p>
            <a:pPr algn="l">
              <a:lnSpc>
                <a:spcPct val="115000"/>
              </a:lnSpc>
              <a:spcAft>
                <a:spcPts val="600"/>
              </a:spcAft>
            </a:pPr>
            <a:r>
              <a:rPr sz="1650" b="1" i="0">
                <a:solidFill>
                  <a:srgbClr val="0A5C52"/>
                </a:solidFill>
                <a:latin typeface="Arial"/>
              </a:rPr>
              <a:t>Analysis</a:t>
            </a:r>
          </a:p>
        </p:txBody>
      </p:sp>
      <p:sp>
        <p:nvSpPr>
          <p:cNvPr id="11" name="TextBox 10"/>
          <p:cNvSpPr txBox="1"/>
          <p:nvPr/>
        </p:nvSpPr>
        <p:spPr>
          <a:xfrm>
            <a:off x="6446520" y="4069080"/>
            <a:ext cx="4937760" cy="365760"/>
          </a:xfrm>
          <a:prstGeom prst="rect">
            <a:avLst/>
          </a:prstGeom>
          <a:noFill/>
        </p:spPr>
        <p:txBody>
          <a:bodyPr wrap="square" lIns="0" rIns="0" tIns="0" bIns="0">
            <a:spAutoFit/>
          </a:bodyPr>
          <a:lstStyle/>
          <a:p>
            <a:pPr algn="l">
              <a:lnSpc>
                <a:spcPct val="115000"/>
              </a:lnSpc>
              <a:spcAft>
                <a:spcPts val="600"/>
              </a:spcAft>
            </a:pPr>
            <a:r>
              <a:rPr sz="1500" b="0" i="0">
                <a:solidFill>
                  <a:srgbClr val="141414"/>
                </a:solidFill>
                <a:latin typeface="Arial"/>
              </a:rPr>
              <a:t>Get product · Compare products · Compare sellers</a:t>
            </a:r>
          </a:p>
        </p:txBody>
      </p:sp>
      <p:sp>
        <p:nvSpPr>
          <p:cNvPr id="12" name="TextBox 11"/>
          <p:cNvSpPr txBox="1"/>
          <p:nvPr/>
        </p:nvSpPr>
        <p:spPr>
          <a:xfrm>
            <a:off x="6446520" y="4581144"/>
            <a:ext cx="4937760" cy="310896"/>
          </a:xfrm>
          <a:prstGeom prst="rect">
            <a:avLst/>
          </a:prstGeom>
          <a:noFill/>
        </p:spPr>
        <p:txBody>
          <a:bodyPr wrap="square" lIns="0" rIns="0" tIns="0" bIns="0">
            <a:spAutoFit/>
          </a:bodyPr>
          <a:lstStyle/>
          <a:p>
            <a:pPr algn="l">
              <a:lnSpc>
                <a:spcPct val="115000"/>
              </a:lnSpc>
              <a:spcAft>
                <a:spcPts val="600"/>
              </a:spcAft>
            </a:pPr>
            <a:r>
              <a:rPr sz="1650" b="1" i="0">
                <a:solidFill>
                  <a:srgbClr val="0A5C52"/>
                </a:solidFill>
                <a:latin typeface="Arial"/>
              </a:rPr>
              <a:t>Interaction</a:t>
            </a:r>
          </a:p>
        </p:txBody>
      </p:sp>
      <p:sp>
        <p:nvSpPr>
          <p:cNvPr id="13" name="TextBox 12"/>
          <p:cNvSpPr txBox="1"/>
          <p:nvPr/>
        </p:nvSpPr>
        <p:spPr>
          <a:xfrm>
            <a:off x="6446520" y="4910328"/>
            <a:ext cx="4937760" cy="365760"/>
          </a:xfrm>
          <a:prstGeom prst="rect">
            <a:avLst/>
          </a:prstGeom>
          <a:noFill/>
        </p:spPr>
        <p:txBody>
          <a:bodyPr wrap="square" lIns="0" rIns="0" tIns="0" bIns="0">
            <a:spAutoFit/>
          </a:bodyPr>
          <a:lstStyle/>
          <a:p>
            <a:pPr algn="l">
              <a:lnSpc>
                <a:spcPct val="115000"/>
              </a:lnSpc>
              <a:spcAft>
                <a:spcPts val="600"/>
              </a:spcAft>
            </a:pPr>
            <a:r>
              <a:rPr sz="1500" b="0" i="0">
                <a:solidFill>
                  <a:srgbClr val="141414"/>
                </a:solidFill>
                <a:latin typeface="Arial"/>
              </a:rPr>
              <a:t>Clarify · Buy · Web search · Web fetch</a:t>
            </a:r>
          </a:p>
        </p:txBody>
      </p:sp>
      <p:sp>
        <p:nvSpPr>
          <p:cNvPr id="14" name="TextBox 13"/>
          <p:cNvSpPr txBox="1"/>
          <p:nvPr/>
        </p:nvSpPr>
        <p:spPr>
          <a:xfrm>
            <a:off x="6446520" y="5468112"/>
            <a:ext cx="4937760" cy="1005840"/>
          </a:xfrm>
          <a:prstGeom prst="rect">
            <a:avLst/>
          </a:prstGeom>
          <a:noFill/>
        </p:spPr>
        <p:txBody>
          <a:bodyPr wrap="square" lIns="0" rIns="0" tIns="0" bIns="0">
            <a:spAutoFit/>
          </a:bodyPr>
          <a:lstStyle/>
          <a:p>
            <a:pPr algn="l">
              <a:lnSpc>
                <a:spcPct val="130000"/>
              </a:lnSpc>
              <a:spcAft>
                <a:spcPts val="600"/>
              </a:spcAft>
            </a:pPr>
            <a:r>
              <a:rPr sz="1450" b="0" i="1">
                <a:solidFill>
                  <a:srgbClr val="6A6A6A"/>
                </a:solidFill>
                <a:latin typeface="Arial"/>
              </a:rPr>
              <a:t>Search and display are deliberately separate, so the agent can search three times, discard two, and show only the third.</a:t>
            </a:r>
          </a:p>
        </p:txBody>
      </p:sp>
      <p:sp>
        <p:nvSpPr>
          <p:cNvPr id="15" name="TextBox 14"/>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DATA AND STATE</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Memory derived from the transcript, not stored beside it</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3.png"/>
          <p:cNvPicPr>
            <a:picLocks noChangeAspect="1"/>
          </p:cNvPicPr>
          <p:nvPr/>
        </p:nvPicPr>
        <p:blipFill>
          <a:blip r:embed="rId3"/>
          <a:stretch>
            <a:fillRect/>
          </a:stretch>
        </p:blipFill>
        <p:spPr>
          <a:xfrm>
            <a:off x="1479220" y="1828800"/>
            <a:ext cx="9233253" cy="1783080"/>
          </a:xfrm>
          <a:prstGeom prst="rect">
            <a:avLst/>
          </a:prstGeom>
        </p:spPr>
      </p:pic>
      <p:sp>
        <p:nvSpPr>
          <p:cNvPr id="6" name="TextBox 5"/>
          <p:cNvSpPr txBox="1"/>
          <p:nvPr/>
        </p:nvSpPr>
        <p:spPr>
          <a:xfrm>
            <a:off x="777240" y="3849624"/>
            <a:ext cx="10607040" cy="731520"/>
          </a:xfrm>
          <a:prstGeom prst="rect">
            <a:avLst/>
          </a:prstGeom>
          <a:noFill/>
        </p:spPr>
        <p:txBody>
          <a:bodyPr wrap="square" lIns="0" rIns="0" tIns="0" bIns="0">
            <a:spAutoFit/>
          </a:bodyPr>
          <a:lstStyle/>
          <a:p>
            <a:pPr algn="l">
              <a:lnSpc>
                <a:spcPct val="130000"/>
              </a:lnSpc>
              <a:spcAft>
                <a:spcPts val="600"/>
              </a:spcAft>
            </a:pPr>
            <a:r>
              <a:rPr sz="1700" b="0" i="1">
                <a:solidFill>
                  <a:srgbClr val="141414"/>
                </a:solidFill>
                <a:latin typeface="Georgia"/>
              </a:rPr>
              <a:t>Each message stores an ordered array of parts — text, reasoning, and every tool call with its input and output.</a:t>
            </a:r>
          </a:p>
        </p:txBody>
      </p:sp>
      <p:sp>
        <p:nvSpPr>
          <p:cNvPr id="7" name="TextBox 6"/>
          <p:cNvSpPr txBox="1"/>
          <p:nvPr/>
        </p:nvSpPr>
        <p:spPr>
          <a:xfrm>
            <a:off x="777240" y="4599432"/>
            <a:ext cx="3291840" cy="310896"/>
          </a:xfrm>
          <a:prstGeom prst="rect">
            <a:avLst/>
          </a:prstGeom>
          <a:noFill/>
        </p:spPr>
        <p:txBody>
          <a:bodyPr wrap="square" lIns="0" rIns="0" tIns="0" bIns="0">
            <a:spAutoFit/>
          </a:bodyPr>
          <a:lstStyle/>
          <a:p>
            <a:pPr algn="l">
              <a:lnSpc>
                <a:spcPct val="115000"/>
              </a:lnSpc>
              <a:spcAft>
                <a:spcPts val="600"/>
              </a:spcAft>
            </a:pPr>
            <a:r>
              <a:rPr sz="1600" b="1" i="0">
                <a:solidFill>
                  <a:srgbClr val="0A5C52"/>
                </a:solidFill>
                <a:latin typeface="Arial"/>
              </a:rPr>
              <a:t>Replayable</a:t>
            </a:r>
          </a:p>
        </p:txBody>
      </p:sp>
      <p:sp>
        <p:nvSpPr>
          <p:cNvPr id="8" name="TextBox 7"/>
          <p:cNvSpPr txBox="1"/>
          <p:nvPr/>
        </p:nvSpPr>
        <p:spPr>
          <a:xfrm>
            <a:off x="777240" y="4946904"/>
            <a:ext cx="3291840" cy="1097280"/>
          </a:xfrm>
          <a:prstGeom prst="rect">
            <a:avLst/>
          </a:prstGeom>
          <a:noFill/>
        </p:spPr>
        <p:txBody>
          <a:bodyPr wrap="square" lIns="0" rIns="0" tIns="0" bIns="0">
            <a:spAutoFit/>
          </a:bodyPr>
          <a:lstStyle/>
          <a:p>
            <a:pPr algn="l">
              <a:lnSpc>
                <a:spcPct val="128000"/>
              </a:lnSpc>
              <a:spcAft>
                <a:spcPts val="600"/>
              </a:spcAft>
            </a:pPr>
            <a:r>
              <a:rPr sz="1350" b="0" i="0">
                <a:solidFill>
                  <a:srgbClr val="6A6A6A"/>
                </a:solidFill>
                <a:latin typeface="Arial"/>
              </a:rPr>
              <a:t>Historical chats re-render exactly, because the tool results are still there.</a:t>
            </a:r>
          </a:p>
        </p:txBody>
      </p:sp>
      <p:sp>
        <p:nvSpPr>
          <p:cNvPr id="9" name="TextBox 8"/>
          <p:cNvSpPr txBox="1"/>
          <p:nvPr/>
        </p:nvSpPr>
        <p:spPr>
          <a:xfrm>
            <a:off x="4434840" y="4599432"/>
            <a:ext cx="3291840" cy="310896"/>
          </a:xfrm>
          <a:prstGeom prst="rect">
            <a:avLst/>
          </a:prstGeom>
          <a:noFill/>
        </p:spPr>
        <p:txBody>
          <a:bodyPr wrap="square" lIns="0" rIns="0" tIns="0" bIns="0">
            <a:spAutoFit/>
          </a:bodyPr>
          <a:lstStyle/>
          <a:p>
            <a:pPr algn="l">
              <a:lnSpc>
                <a:spcPct val="115000"/>
              </a:lnSpc>
              <a:spcAft>
                <a:spcPts val="600"/>
              </a:spcAft>
            </a:pPr>
            <a:r>
              <a:rPr sz="1600" b="1" i="0">
                <a:solidFill>
                  <a:srgbClr val="0A5C52"/>
                </a:solidFill>
                <a:latin typeface="Arial"/>
              </a:rPr>
              <a:t>Derived memory</a:t>
            </a:r>
          </a:p>
        </p:txBody>
      </p:sp>
      <p:sp>
        <p:nvSpPr>
          <p:cNvPr id="10" name="TextBox 9"/>
          <p:cNvSpPr txBox="1"/>
          <p:nvPr/>
        </p:nvSpPr>
        <p:spPr>
          <a:xfrm>
            <a:off x="4434840" y="4946904"/>
            <a:ext cx="3291840" cy="1097280"/>
          </a:xfrm>
          <a:prstGeom prst="rect">
            <a:avLst/>
          </a:prstGeom>
          <a:noFill/>
        </p:spPr>
        <p:txBody>
          <a:bodyPr wrap="square" lIns="0" rIns="0" tIns="0" bIns="0">
            <a:spAutoFit/>
          </a:bodyPr>
          <a:lstStyle/>
          <a:p>
            <a:pPr algn="l">
              <a:lnSpc>
                <a:spcPct val="128000"/>
              </a:lnSpc>
              <a:spcAft>
                <a:spcPts val="600"/>
              </a:spcAft>
            </a:pPr>
            <a:r>
              <a:rPr sz="1350" b="0" i="0">
                <a:solidFill>
                  <a:srgbClr val="6A6A6A"/>
                </a:solidFill>
                <a:latin typeface="Arial"/>
              </a:rPr>
              <a:t>Prior query, filters and seen IDs are rebuilt per request — no separate state to go stale.</a:t>
            </a:r>
          </a:p>
        </p:txBody>
      </p:sp>
      <p:sp>
        <p:nvSpPr>
          <p:cNvPr id="11" name="TextBox 10"/>
          <p:cNvSpPr txBox="1"/>
          <p:nvPr/>
        </p:nvSpPr>
        <p:spPr>
          <a:xfrm>
            <a:off x="8092440" y="4599432"/>
            <a:ext cx="3291840" cy="310896"/>
          </a:xfrm>
          <a:prstGeom prst="rect">
            <a:avLst/>
          </a:prstGeom>
          <a:noFill/>
        </p:spPr>
        <p:txBody>
          <a:bodyPr wrap="square" lIns="0" rIns="0" tIns="0" bIns="0">
            <a:spAutoFit/>
          </a:bodyPr>
          <a:lstStyle/>
          <a:p>
            <a:pPr algn="l">
              <a:lnSpc>
                <a:spcPct val="115000"/>
              </a:lnSpc>
              <a:spcAft>
                <a:spcPts val="600"/>
              </a:spcAft>
            </a:pPr>
            <a:r>
              <a:rPr sz="1600" b="1" i="0">
                <a:solidFill>
                  <a:srgbClr val="0A5C52"/>
                </a:solidFill>
                <a:latin typeface="Arial"/>
              </a:rPr>
              <a:t>Scoreable</a:t>
            </a:r>
          </a:p>
        </p:txBody>
      </p:sp>
      <p:sp>
        <p:nvSpPr>
          <p:cNvPr id="12" name="TextBox 11"/>
          <p:cNvSpPr txBox="1"/>
          <p:nvPr/>
        </p:nvSpPr>
        <p:spPr>
          <a:xfrm>
            <a:off x="8092440" y="4946904"/>
            <a:ext cx="3291840" cy="1097280"/>
          </a:xfrm>
          <a:prstGeom prst="rect">
            <a:avLst/>
          </a:prstGeom>
          <a:noFill/>
        </p:spPr>
        <p:txBody>
          <a:bodyPr wrap="square" lIns="0" rIns="0" tIns="0" bIns="0">
            <a:spAutoFit/>
          </a:bodyPr>
          <a:lstStyle/>
          <a:p>
            <a:pPr algn="l">
              <a:lnSpc>
                <a:spcPct val="128000"/>
              </a:lnSpc>
              <a:spcAft>
                <a:spcPts val="600"/>
              </a:spcAft>
            </a:pPr>
            <a:r>
              <a:rPr sz="1350" b="0" i="0">
                <a:solidFill>
                  <a:srgbClr val="6A6A6A"/>
                </a:solidFill>
                <a:latin typeface="Arial"/>
              </a:rPr>
              <a:t>The evaluation harness reads the tool sequence straight out of the transcript.</a:t>
            </a:r>
          </a:p>
        </p:txBody>
      </p:sp>
      <p:sp>
        <p:nvSpPr>
          <p:cNvPr id="13" name="TextBox 12"/>
          <p:cNvSpPr txBox="1"/>
          <p:nvPr/>
        </p:nvSpPr>
        <p:spPr>
          <a:xfrm>
            <a:off x="777240" y="5925312"/>
            <a:ext cx="10607040" cy="457200"/>
          </a:xfrm>
          <a:prstGeom prst="rect">
            <a:avLst/>
          </a:prstGeom>
          <a:noFill/>
        </p:spPr>
        <p:txBody>
          <a:bodyPr wrap="square" lIns="0" rIns="0" tIns="0" bIns="0">
            <a:spAutoFit/>
          </a:bodyPr>
          <a:lstStyle/>
          <a:p>
            <a:pPr algn="l">
              <a:lnSpc>
                <a:spcPct val="115000"/>
              </a:lnSpc>
              <a:spcAft>
                <a:spcPts val="600"/>
              </a:spcAft>
            </a:pPr>
            <a:r>
              <a:rPr sz="1400" b="0" i="0">
                <a:solidFill>
                  <a:srgbClr val="141414"/>
                </a:solidFill>
                <a:latin typeface="Arial"/>
              </a:rPr>
              <a:t>Caching: feed 1 hour · web evidence 5 minutes · catalogue never — freshness is the point, and the catalogue terms forbid it.</a:t>
            </a:r>
          </a:p>
        </p:txBody>
      </p:sp>
      <p:sp>
        <p:nvSpPr>
          <p:cNvPr id="14" name="TextBox 13"/>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THE CENTRAL IDEA</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Hallucinated products are impossible, not unlikely</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6.png"/>
          <p:cNvPicPr>
            <a:picLocks noChangeAspect="1"/>
          </p:cNvPicPr>
          <p:nvPr/>
        </p:nvPicPr>
        <p:blipFill>
          <a:blip r:embed="rId3"/>
          <a:stretch>
            <a:fillRect/>
          </a:stretch>
        </p:blipFill>
        <p:spPr>
          <a:xfrm>
            <a:off x="2450404" y="1874519"/>
            <a:ext cx="7290886" cy="2606040"/>
          </a:xfrm>
          <a:prstGeom prst="rect">
            <a:avLst/>
          </a:prstGeom>
        </p:spPr>
      </p:pic>
      <p:sp>
        <p:nvSpPr>
          <p:cNvPr id="6" name="Rectangle 5"/>
          <p:cNvSpPr/>
          <p:nvPr/>
        </p:nvSpPr>
        <p:spPr>
          <a:xfrm>
            <a:off x="777240" y="4800600"/>
            <a:ext cx="10607040" cy="1371600"/>
          </a:xfrm>
          <a:prstGeom prst="rect">
            <a:avLst/>
          </a:prstGeom>
          <a:solidFill>
            <a:srgbClr val="F2F4F3"/>
          </a:solidFill>
          <a:ln>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5074920"/>
            <a:ext cx="9875520" cy="914400"/>
          </a:xfrm>
          <a:prstGeom prst="rect">
            <a:avLst/>
          </a:prstGeom>
          <a:noFill/>
        </p:spPr>
        <p:txBody>
          <a:bodyPr wrap="square" lIns="0" rIns="0" tIns="0" bIns="0">
            <a:spAutoFit/>
          </a:bodyPr>
          <a:lstStyle/>
          <a:p>
            <a:pPr algn="l">
              <a:lnSpc>
                <a:spcPct val="132000"/>
              </a:lnSpc>
              <a:spcAft>
                <a:spcPts val="600"/>
              </a:spcAft>
            </a:pPr>
            <a:r>
              <a:rPr sz="1700" b="0" i="0">
                <a:solidFill>
                  <a:srgbClr val="141414"/>
                </a:solidFill>
                <a:latin typeface="Georgia"/>
              </a:rPr>
              <a:t>The interface renders product cards only from tool results. The model can ask for a card, but it cannot supply its contents — so inventing a price or a product is not a behaviour it is discouraged from, but one the architecture does not permit.</a:t>
            </a:r>
          </a:p>
        </p:txBody>
      </p:sp>
      <p:sp>
        <p:nvSpPr>
          <p:cNvPr id="8" name="TextBox 7"/>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EVALUATION</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Judged on behaviour, not on how the reply reads</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11680"/>
            <a:ext cx="3017520" cy="292608"/>
          </a:xfrm>
          <a:prstGeom prst="rect">
            <a:avLst/>
          </a:prstGeom>
          <a:noFill/>
        </p:spPr>
        <p:txBody>
          <a:bodyPr wrap="square" lIns="0" rIns="0" tIns="0" bIns="0">
            <a:spAutoFit/>
          </a:bodyPr>
          <a:lstStyle/>
          <a:p>
            <a:pPr algn="l">
              <a:lnSpc>
                <a:spcPct val="115000"/>
              </a:lnSpc>
              <a:spcAft>
                <a:spcPts val="600"/>
              </a:spcAft>
            </a:pPr>
            <a:r>
              <a:rPr sz="1450" b="0" i="0">
                <a:solidFill>
                  <a:srgbClr val="141414"/>
                </a:solidFill>
                <a:latin typeface="Arial"/>
              </a:rPr>
              <a:t>Named product</a:t>
            </a:r>
          </a:p>
        </p:txBody>
      </p:sp>
      <p:sp>
        <p:nvSpPr>
          <p:cNvPr id="6" name="Rectangle 5"/>
          <p:cNvSpPr/>
          <p:nvPr/>
        </p:nvSpPr>
        <p:spPr>
          <a:xfrm>
            <a:off x="3886200" y="1993392"/>
            <a:ext cx="1691640" cy="265176"/>
          </a:xfrm>
          <a:prstGeom prst="rect">
            <a:avLst/>
          </a:prstGeom>
          <a:solidFill>
            <a:srgbClr val="141414"/>
          </a:solidFill>
          <a:ln>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Arial"/>
              </a:rPr>
              <a:t>CLEAN</a:t>
            </a:r>
          </a:p>
        </p:txBody>
      </p:sp>
      <p:sp>
        <p:nvSpPr>
          <p:cNvPr id="7" name="TextBox 6"/>
          <p:cNvSpPr txBox="1"/>
          <p:nvPr/>
        </p:nvSpPr>
        <p:spPr>
          <a:xfrm>
            <a:off x="822960" y="2414016"/>
            <a:ext cx="3017520" cy="292608"/>
          </a:xfrm>
          <a:prstGeom prst="rect">
            <a:avLst/>
          </a:prstGeom>
          <a:noFill/>
        </p:spPr>
        <p:txBody>
          <a:bodyPr wrap="square" lIns="0" rIns="0" tIns="0" bIns="0">
            <a:spAutoFit/>
          </a:bodyPr>
          <a:lstStyle/>
          <a:p>
            <a:pPr algn="l">
              <a:lnSpc>
                <a:spcPct val="115000"/>
              </a:lnSpc>
              <a:spcAft>
                <a:spcPts val="600"/>
              </a:spcAft>
            </a:pPr>
            <a:r>
              <a:rPr sz="1450" b="0" i="0">
                <a:solidFill>
                  <a:srgbClr val="141414"/>
                </a:solidFill>
                <a:latin typeface="Arial"/>
              </a:rPr>
              <a:t>Budget constraint</a:t>
            </a:r>
          </a:p>
        </p:txBody>
      </p:sp>
      <p:sp>
        <p:nvSpPr>
          <p:cNvPr id="8" name="Rectangle 7"/>
          <p:cNvSpPr/>
          <p:nvPr/>
        </p:nvSpPr>
        <p:spPr>
          <a:xfrm>
            <a:off x="3886200" y="2395728"/>
            <a:ext cx="1691640" cy="265176"/>
          </a:xfrm>
          <a:prstGeom prst="rect">
            <a:avLst/>
          </a:prstGeom>
          <a:solidFill>
            <a:srgbClr val="141414"/>
          </a:solidFill>
          <a:ln>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Arial"/>
              </a:rPr>
              <a:t>CLEAN</a:t>
            </a:r>
          </a:p>
        </p:txBody>
      </p:sp>
      <p:sp>
        <p:nvSpPr>
          <p:cNvPr id="9" name="TextBox 8"/>
          <p:cNvSpPr txBox="1"/>
          <p:nvPr/>
        </p:nvSpPr>
        <p:spPr>
          <a:xfrm>
            <a:off x="822960" y="2816352"/>
            <a:ext cx="3017520" cy="292608"/>
          </a:xfrm>
          <a:prstGeom prst="rect">
            <a:avLst/>
          </a:prstGeom>
          <a:noFill/>
        </p:spPr>
        <p:txBody>
          <a:bodyPr wrap="square" lIns="0" rIns="0" tIns="0" bIns="0">
            <a:spAutoFit/>
          </a:bodyPr>
          <a:lstStyle/>
          <a:p>
            <a:pPr algn="l">
              <a:lnSpc>
                <a:spcPct val="115000"/>
              </a:lnSpc>
              <a:spcAft>
                <a:spcPts val="600"/>
              </a:spcAft>
            </a:pPr>
            <a:r>
              <a:rPr sz="1450" b="0" i="0">
                <a:solidFill>
                  <a:srgbClr val="141414"/>
                </a:solidFill>
                <a:latin typeface="Arial"/>
              </a:rPr>
              <a:t>Comparison branch</a:t>
            </a:r>
          </a:p>
        </p:txBody>
      </p:sp>
      <p:sp>
        <p:nvSpPr>
          <p:cNvPr id="10" name="Rectangle 9"/>
          <p:cNvSpPr/>
          <p:nvPr/>
        </p:nvSpPr>
        <p:spPr>
          <a:xfrm>
            <a:off x="3886200" y="2798064"/>
            <a:ext cx="1691640" cy="265176"/>
          </a:xfrm>
          <a:prstGeom prst="rect">
            <a:avLst/>
          </a:prstGeom>
          <a:solidFill>
            <a:srgbClr val="141414"/>
          </a:solidFill>
          <a:ln>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Arial"/>
              </a:rPr>
              <a:t>CLEAN</a:t>
            </a:r>
          </a:p>
        </p:txBody>
      </p:sp>
      <p:sp>
        <p:nvSpPr>
          <p:cNvPr id="11" name="TextBox 10"/>
          <p:cNvSpPr txBox="1"/>
          <p:nvPr/>
        </p:nvSpPr>
        <p:spPr>
          <a:xfrm>
            <a:off x="822960" y="3218688"/>
            <a:ext cx="3017520" cy="292608"/>
          </a:xfrm>
          <a:prstGeom prst="rect">
            <a:avLst/>
          </a:prstGeom>
          <a:noFill/>
        </p:spPr>
        <p:txBody>
          <a:bodyPr wrap="square" lIns="0" rIns="0" tIns="0" bIns="0">
            <a:spAutoFit/>
          </a:bodyPr>
          <a:lstStyle/>
          <a:p>
            <a:pPr algn="l">
              <a:lnSpc>
                <a:spcPct val="115000"/>
              </a:lnSpc>
              <a:spcAft>
                <a:spcPts val="600"/>
              </a:spcAft>
            </a:pPr>
            <a:r>
              <a:rPr sz="1450" b="0" i="0">
                <a:solidFill>
                  <a:srgbClr val="141414"/>
                </a:solidFill>
                <a:latin typeface="Arial"/>
              </a:rPr>
              <a:t>Seller comparison</a:t>
            </a:r>
          </a:p>
        </p:txBody>
      </p:sp>
      <p:sp>
        <p:nvSpPr>
          <p:cNvPr id="12" name="Rectangle 11"/>
          <p:cNvSpPr/>
          <p:nvPr/>
        </p:nvSpPr>
        <p:spPr>
          <a:xfrm>
            <a:off x="3886200" y="3200400"/>
            <a:ext cx="1691640" cy="265176"/>
          </a:xfrm>
          <a:prstGeom prst="rect">
            <a:avLst/>
          </a:prstGeom>
          <a:solidFill>
            <a:srgbClr val="141414"/>
          </a:solidFill>
          <a:ln>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Arial"/>
              </a:rPr>
              <a:t>CLEAN</a:t>
            </a:r>
          </a:p>
        </p:txBody>
      </p:sp>
      <p:sp>
        <p:nvSpPr>
          <p:cNvPr id="13" name="TextBox 12"/>
          <p:cNvSpPr txBox="1"/>
          <p:nvPr/>
        </p:nvSpPr>
        <p:spPr>
          <a:xfrm>
            <a:off x="822960" y="3621024"/>
            <a:ext cx="3017520" cy="292608"/>
          </a:xfrm>
          <a:prstGeom prst="rect">
            <a:avLst/>
          </a:prstGeom>
          <a:noFill/>
        </p:spPr>
        <p:txBody>
          <a:bodyPr wrap="square" lIns="0" rIns="0" tIns="0" bIns="0">
            <a:spAutoFit/>
          </a:bodyPr>
          <a:lstStyle/>
          <a:p>
            <a:pPr algn="l">
              <a:lnSpc>
                <a:spcPct val="115000"/>
              </a:lnSpc>
              <a:spcAft>
                <a:spcPts val="600"/>
              </a:spcAft>
            </a:pPr>
            <a:r>
              <a:rPr sz="1450" b="0" i="0">
                <a:solidFill>
                  <a:srgbClr val="141414"/>
                </a:solidFill>
                <a:latin typeface="Arial"/>
              </a:rPr>
              <a:t>Category + use case</a:t>
            </a:r>
          </a:p>
        </p:txBody>
      </p:sp>
      <p:sp>
        <p:nvSpPr>
          <p:cNvPr id="14" name="Rectangle 13"/>
          <p:cNvSpPr/>
          <p:nvPr/>
        </p:nvSpPr>
        <p:spPr>
          <a:xfrm>
            <a:off x="3886200" y="3602736"/>
            <a:ext cx="1691640" cy="265176"/>
          </a:xfrm>
          <a:prstGeom prst="rect">
            <a:avLst/>
          </a:prstGeom>
          <a:solidFill>
            <a:srgbClr val="141414"/>
          </a:solidFill>
          <a:ln>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FFFFFF"/>
                </a:solidFill>
                <a:latin typeface="Arial"/>
              </a:rPr>
              <a:t>CLEAN</a:t>
            </a:r>
          </a:p>
        </p:txBody>
      </p:sp>
      <p:sp>
        <p:nvSpPr>
          <p:cNvPr id="15" name="TextBox 14"/>
          <p:cNvSpPr txBox="1"/>
          <p:nvPr/>
        </p:nvSpPr>
        <p:spPr>
          <a:xfrm>
            <a:off x="822960" y="4023360"/>
            <a:ext cx="3017520" cy="292608"/>
          </a:xfrm>
          <a:prstGeom prst="rect">
            <a:avLst/>
          </a:prstGeom>
          <a:noFill/>
        </p:spPr>
        <p:txBody>
          <a:bodyPr wrap="square" lIns="0" rIns="0" tIns="0" bIns="0">
            <a:spAutoFit/>
          </a:bodyPr>
          <a:lstStyle/>
          <a:p>
            <a:pPr algn="l">
              <a:lnSpc>
                <a:spcPct val="115000"/>
              </a:lnSpc>
              <a:spcAft>
                <a:spcPts val="600"/>
              </a:spcAft>
            </a:pPr>
            <a:r>
              <a:rPr sz="1450" b="0" i="0">
                <a:solidFill>
                  <a:srgbClr val="141414"/>
                </a:solidFill>
                <a:latin typeface="Arial"/>
              </a:rPr>
              <a:t>Broad request</a:t>
            </a:r>
          </a:p>
        </p:txBody>
      </p:sp>
      <p:sp>
        <p:nvSpPr>
          <p:cNvPr id="16" name="Rectangle 15"/>
          <p:cNvSpPr/>
          <p:nvPr/>
        </p:nvSpPr>
        <p:spPr>
          <a:xfrm>
            <a:off x="3886200" y="4005072"/>
            <a:ext cx="1691640" cy="265176"/>
          </a:xfrm>
          <a:prstGeom prst="rect">
            <a:avLst/>
          </a:prstGeom>
          <a:solidFill>
            <a:srgbClr val="FFFFFF"/>
          </a:solidFill>
          <a:ln>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141414"/>
                </a:solidFill>
                <a:latin typeface="Arial"/>
              </a:rPr>
              <a:t>QUESTION AS TEXT</a:t>
            </a:r>
          </a:p>
        </p:txBody>
      </p:sp>
      <p:sp>
        <p:nvSpPr>
          <p:cNvPr id="17" name="TextBox 16"/>
          <p:cNvSpPr txBox="1"/>
          <p:nvPr/>
        </p:nvSpPr>
        <p:spPr>
          <a:xfrm>
            <a:off x="822960" y="4425696"/>
            <a:ext cx="3017520" cy="292608"/>
          </a:xfrm>
          <a:prstGeom prst="rect">
            <a:avLst/>
          </a:prstGeom>
          <a:noFill/>
        </p:spPr>
        <p:txBody>
          <a:bodyPr wrap="square" lIns="0" rIns="0" tIns="0" bIns="0">
            <a:spAutoFit/>
          </a:bodyPr>
          <a:lstStyle/>
          <a:p>
            <a:pPr algn="l">
              <a:lnSpc>
                <a:spcPct val="115000"/>
              </a:lnSpc>
              <a:spcAft>
                <a:spcPts val="600"/>
              </a:spcAft>
            </a:pPr>
            <a:r>
              <a:rPr sz="1450" b="0" i="0">
                <a:solidFill>
                  <a:srgbClr val="141414"/>
                </a:solidFill>
                <a:latin typeface="Arial"/>
              </a:rPr>
              <a:t>Open-ended gift</a:t>
            </a:r>
          </a:p>
        </p:txBody>
      </p:sp>
      <p:sp>
        <p:nvSpPr>
          <p:cNvPr id="18" name="Rectangle 17"/>
          <p:cNvSpPr/>
          <p:nvPr/>
        </p:nvSpPr>
        <p:spPr>
          <a:xfrm>
            <a:off x="3886200" y="4407408"/>
            <a:ext cx="1691640" cy="265176"/>
          </a:xfrm>
          <a:prstGeom prst="rect">
            <a:avLst/>
          </a:prstGeom>
          <a:solidFill>
            <a:srgbClr val="FFFFFF"/>
          </a:solidFill>
          <a:ln>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141414"/>
                </a:solidFill>
                <a:latin typeface="Arial"/>
              </a:rPr>
              <a:t>QUESTION AS TEXT</a:t>
            </a:r>
          </a:p>
        </p:txBody>
      </p:sp>
      <p:sp>
        <p:nvSpPr>
          <p:cNvPr id="19" name="TextBox 18"/>
          <p:cNvSpPr txBox="1"/>
          <p:nvPr/>
        </p:nvSpPr>
        <p:spPr>
          <a:xfrm>
            <a:off x="822960" y="4828032"/>
            <a:ext cx="3017520" cy="292608"/>
          </a:xfrm>
          <a:prstGeom prst="rect">
            <a:avLst/>
          </a:prstGeom>
          <a:noFill/>
        </p:spPr>
        <p:txBody>
          <a:bodyPr wrap="square" lIns="0" rIns="0" tIns="0" bIns="0">
            <a:spAutoFit/>
          </a:bodyPr>
          <a:lstStyle/>
          <a:p>
            <a:pPr algn="l">
              <a:lnSpc>
                <a:spcPct val="115000"/>
              </a:lnSpc>
              <a:spcAft>
                <a:spcPts val="600"/>
              </a:spcAft>
            </a:pPr>
            <a:r>
              <a:rPr sz="1450" b="0" i="0">
                <a:solidFill>
                  <a:srgbClr val="141414"/>
                </a:solidFill>
                <a:latin typeface="Arial"/>
              </a:rPr>
              <a:t>Generation sensitivity</a:t>
            </a:r>
          </a:p>
        </p:txBody>
      </p:sp>
      <p:sp>
        <p:nvSpPr>
          <p:cNvPr id="20" name="Rectangle 19"/>
          <p:cNvSpPr/>
          <p:nvPr/>
        </p:nvSpPr>
        <p:spPr>
          <a:xfrm>
            <a:off x="3886200" y="4809744"/>
            <a:ext cx="1691640" cy="265176"/>
          </a:xfrm>
          <a:prstGeom prst="rect">
            <a:avLst/>
          </a:prstGeom>
          <a:solidFill>
            <a:srgbClr val="FFFFFF"/>
          </a:solidFill>
          <a:ln>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950" b="1">
                <a:solidFill>
                  <a:srgbClr val="141414"/>
                </a:solidFill>
                <a:latin typeface="Arial"/>
              </a:rPr>
              <a:t>OFF-TARGET</a:t>
            </a:r>
          </a:p>
        </p:txBody>
      </p:sp>
      <p:sp>
        <p:nvSpPr>
          <p:cNvPr id="21" name="Rectangle 20"/>
          <p:cNvSpPr/>
          <p:nvPr/>
        </p:nvSpPr>
        <p:spPr>
          <a:xfrm>
            <a:off x="6217920" y="1965960"/>
            <a:ext cx="5166360" cy="13716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2176272"/>
            <a:ext cx="4572000" cy="822960"/>
          </a:xfrm>
          <a:prstGeom prst="rect">
            <a:avLst/>
          </a:prstGeom>
          <a:noFill/>
        </p:spPr>
        <p:txBody>
          <a:bodyPr wrap="square" lIns="0" rIns="0" tIns="0" bIns="0">
            <a:spAutoFit/>
          </a:bodyPr>
          <a:lstStyle/>
          <a:p>
            <a:pPr algn="l">
              <a:lnSpc>
                <a:spcPct val="115000"/>
              </a:lnSpc>
              <a:spcAft>
                <a:spcPts val="600"/>
              </a:spcAft>
            </a:pPr>
            <a:r>
              <a:rPr sz="2700" b="0" i="0">
                <a:solidFill>
                  <a:srgbClr val="FFFFFF"/>
                </a:solidFill>
                <a:latin typeface="Georgia"/>
              </a:rPr>
              <a:t>5 of 8 scenarios clean</a:t>
            </a:r>
          </a:p>
        </p:txBody>
      </p:sp>
      <p:sp>
        <p:nvSpPr>
          <p:cNvPr id="23" name="TextBox 22"/>
          <p:cNvSpPr txBox="1"/>
          <p:nvPr/>
        </p:nvSpPr>
        <p:spPr>
          <a:xfrm>
            <a:off x="6537960" y="2743200"/>
            <a:ext cx="4572000" cy="365760"/>
          </a:xfrm>
          <a:prstGeom prst="rect">
            <a:avLst/>
          </a:prstGeom>
          <a:noFill/>
        </p:spPr>
        <p:txBody>
          <a:bodyPr wrap="square" lIns="0" rIns="0" tIns="0" bIns="0">
            <a:spAutoFit/>
          </a:bodyPr>
          <a:lstStyle/>
          <a:p>
            <a:pPr algn="l">
              <a:lnSpc>
                <a:spcPct val="115000"/>
              </a:lnSpc>
              <a:spcAft>
                <a:spcPts val="600"/>
              </a:spcAft>
            </a:pPr>
            <a:r>
              <a:rPr sz="1400" b="0" i="0">
                <a:solidFill>
                  <a:srgbClr val="BFC9C7"/>
                </a:solidFill>
                <a:latin typeface="Arial"/>
              </a:rPr>
              <a:t>three flagged, each with a diagnosed cause</a:t>
            </a:r>
          </a:p>
        </p:txBody>
      </p:sp>
      <p:sp>
        <p:nvSpPr>
          <p:cNvPr id="24" name="TextBox 23"/>
          <p:cNvSpPr txBox="1"/>
          <p:nvPr/>
        </p:nvSpPr>
        <p:spPr>
          <a:xfrm>
            <a:off x="6217920" y="3611880"/>
            <a:ext cx="5166360" cy="2194560"/>
          </a:xfrm>
          <a:prstGeom prst="rect">
            <a:avLst/>
          </a:prstGeom>
          <a:noFill/>
        </p:spPr>
        <p:txBody>
          <a:bodyPr wrap="square" lIns="0" rIns="0" tIns="0" bIns="0">
            <a:spAutoFit/>
          </a:bodyPr>
          <a:lstStyle/>
          <a:p>
            <a:pPr algn="l">
              <a:lnSpc>
                <a:spcPct val="135000"/>
              </a:lnSpc>
              <a:spcAft>
                <a:spcPts val="600"/>
              </a:spcAft>
            </a:pPr>
            <a:r>
              <a:rPr sz="1550" b="0" i="0">
                <a:solidFill>
                  <a:srgbClr val="141414"/>
                </a:solidFill>
                <a:latin typeface="Arial"/>
              </a:rPr>
              <a:t>Two of the three failures produced output that looked entirely correct on screen. Reading the replies would have passed both. Only assertions over the tool sequence caught them.
For agentic systems, behavioural evaluation is the primary instrument, not a supplement.</a:t>
            </a:r>
          </a:p>
        </p:txBody>
      </p:sp>
      <p:sp>
        <p:nvSpPr>
          <p:cNvPr id="25" name="TextBox 24"/>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07040" cy="274320"/>
          </a:xfrm>
          <a:prstGeom prst="rect">
            <a:avLst/>
          </a:prstGeom>
          <a:noFill/>
        </p:spPr>
        <p:txBody>
          <a:bodyPr wrap="square" lIns="0" rIns="0" tIns="0" bIns="0">
            <a:spAutoFit/>
          </a:bodyPr>
          <a:lstStyle/>
          <a:p>
            <a:pPr algn="l">
              <a:lnSpc>
                <a:spcPct val="115000"/>
              </a:lnSpc>
              <a:spcAft>
                <a:spcPts val="600"/>
              </a:spcAft>
            </a:pPr>
            <a:r>
              <a:rPr sz="1150" b="1" i="0">
                <a:solidFill>
                  <a:srgbClr val="0A5C52"/>
                </a:solidFill>
                <a:latin typeface="Arial"/>
              </a:rPr>
              <a:t>CONCLUSION</a:t>
            </a:r>
          </a:p>
        </p:txBody>
      </p:sp>
      <p:sp>
        <p:nvSpPr>
          <p:cNvPr id="3" name="TextBox 2"/>
          <p:cNvSpPr txBox="1"/>
          <p:nvPr/>
        </p:nvSpPr>
        <p:spPr>
          <a:xfrm>
            <a:off x="777240" y="804672"/>
            <a:ext cx="10607040" cy="731520"/>
          </a:xfrm>
          <a:prstGeom prst="rect">
            <a:avLst/>
          </a:prstGeom>
          <a:noFill/>
        </p:spPr>
        <p:txBody>
          <a:bodyPr wrap="square" lIns="0" rIns="0" tIns="0" bIns="0">
            <a:spAutoFit/>
          </a:bodyPr>
          <a:lstStyle/>
          <a:p>
            <a:pPr algn="l">
              <a:lnSpc>
                <a:spcPct val="115000"/>
              </a:lnSpc>
              <a:spcAft>
                <a:spcPts val="600"/>
              </a:spcAft>
            </a:pPr>
            <a:r>
              <a:rPr sz="3300" b="0" i="0">
                <a:solidFill>
                  <a:srgbClr val="141414"/>
                </a:solidFill>
                <a:latin typeface="Georgia"/>
              </a:rPr>
              <a:t>What the project shows, and what comes next</a:t>
            </a:r>
          </a:p>
        </p:txBody>
      </p:sp>
      <p:sp>
        <p:nvSpPr>
          <p:cNvPr id="4" name="Rectangle 3"/>
          <p:cNvSpPr/>
          <p:nvPr/>
        </p:nvSpPr>
        <p:spPr>
          <a:xfrm>
            <a:off x="777240" y="15727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07040" cy="1097280"/>
          </a:xfrm>
          <a:prstGeom prst="rect">
            <a:avLst/>
          </a:prstGeom>
          <a:noFill/>
        </p:spPr>
        <p:txBody>
          <a:bodyPr wrap="square" lIns="0" rIns="0" tIns="0" bIns="0">
            <a:spAutoFit/>
          </a:bodyPr>
          <a:lstStyle/>
          <a:p>
            <a:pPr algn="l">
              <a:lnSpc>
                <a:spcPct val="135000"/>
              </a:lnSpc>
              <a:spcAft>
                <a:spcPts val="600"/>
              </a:spcAft>
            </a:pPr>
            <a:r>
              <a:rPr sz="2000" b="0" i="0">
                <a:solidFill>
                  <a:srgbClr val="141414"/>
                </a:solidFill>
                <a:latin typeface="Georgia"/>
              </a:rPr>
              <a:t>The useful part of an agentic system is not the conversation — it is the constraints around it: the bounded loop, the typed tools, the derived memory, and the grounding contract.</a:t>
            </a:r>
          </a:p>
        </p:txBody>
      </p:sp>
      <p:sp>
        <p:nvSpPr>
          <p:cNvPr id="6" name="Rectangle 5"/>
          <p:cNvSpPr/>
          <p:nvPr/>
        </p:nvSpPr>
        <p:spPr>
          <a:xfrm>
            <a:off x="777240" y="3401568"/>
            <a:ext cx="10607040" cy="190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639312"/>
            <a:ext cx="4846320" cy="365760"/>
          </a:xfrm>
          <a:prstGeom prst="rect">
            <a:avLst/>
          </a:prstGeom>
          <a:noFill/>
        </p:spPr>
        <p:txBody>
          <a:bodyPr wrap="square" lIns="0" rIns="0" tIns="0" bIns="0">
            <a:spAutoFit/>
          </a:bodyPr>
          <a:lstStyle/>
          <a:p>
            <a:pPr algn="l">
              <a:lnSpc>
                <a:spcPct val="115000"/>
              </a:lnSpc>
              <a:spcAft>
                <a:spcPts val="600"/>
              </a:spcAft>
            </a:pPr>
            <a:r>
              <a:rPr sz="1700" b="1" i="0">
                <a:solidFill>
                  <a:srgbClr val="0A5C52"/>
                </a:solidFill>
                <a:latin typeface="Arial"/>
              </a:rPr>
              <a:t>Delivered</a:t>
            </a:r>
          </a:p>
        </p:txBody>
      </p:sp>
      <p:sp>
        <p:nvSpPr>
          <p:cNvPr id="8" name="TextBox 7"/>
          <p:cNvSpPr txBox="1"/>
          <p:nvPr/>
        </p:nvSpPr>
        <p:spPr>
          <a:xfrm>
            <a:off x="777240" y="4041648"/>
            <a:ext cx="4846320" cy="2103120"/>
          </a:xfrm>
          <a:prstGeom prst="rect">
            <a:avLst/>
          </a:prstGeom>
          <a:noFill/>
        </p:spPr>
        <p:txBody>
          <a:bodyPr wrap="square" lIns="0" rIns="0" tIns="0" bIns="0">
            <a:spAutoFit/>
          </a:bodyPr>
          <a:lstStyle/>
          <a:p>
            <a:pPr>
              <a:lnSpc>
                <a:spcPct val="118000"/>
              </a:lnSpc>
              <a:spcAft>
                <a:spcPts val="1100"/>
              </a:spcAft>
            </a:pPr>
            <a:r>
              <a:rPr sz="1500">
                <a:solidFill>
                  <a:srgbClr val="6A6A6A"/>
                </a:solidFill>
                <a:latin typeface="Arial"/>
              </a:rPr>
              <a:t>— </a:t>
            </a:r>
            <a:r>
              <a:rPr sz="1500">
                <a:solidFill>
                  <a:srgbClr val="141414"/>
                </a:solidFill>
                <a:latin typeface="Arial"/>
              </a:rPr>
              <a:t>Live cross-merchant catalogue integration</a:t>
            </a:r>
          </a:p>
          <a:p>
            <a:pPr>
              <a:lnSpc>
                <a:spcPct val="118000"/>
              </a:lnSpc>
              <a:spcAft>
                <a:spcPts val="1100"/>
              </a:spcAft>
            </a:pPr>
            <a:r>
              <a:rPr sz="1500">
                <a:solidFill>
                  <a:srgbClr val="6A6A6A"/>
                </a:solidFill>
                <a:latin typeface="Arial"/>
              </a:rPr>
              <a:t>— </a:t>
            </a:r>
            <a:r>
              <a:rPr sz="1500">
                <a:solidFill>
                  <a:srgbClr val="141414"/>
                </a:solidFill>
                <a:latin typeface="Arial"/>
              </a:rPr>
              <a:t>Eleven typed tools, bounded reasoning loop</a:t>
            </a:r>
          </a:p>
          <a:p>
            <a:pPr>
              <a:lnSpc>
                <a:spcPct val="118000"/>
              </a:lnSpc>
              <a:spcAft>
                <a:spcPts val="1100"/>
              </a:spcAft>
            </a:pPr>
            <a:r>
              <a:rPr sz="1500">
                <a:solidFill>
                  <a:srgbClr val="6A6A6A"/>
                </a:solidFill>
                <a:latin typeface="Arial"/>
              </a:rPr>
              <a:t>— </a:t>
            </a:r>
            <a:r>
              <a:rPr sz="1500">
                <a:solidFill>
                  <a:srgbClr val="141414"/>
                </a:solidFill>
                <a:latin typeface="Arial"/>
              </a:rPr>
              <a:t>Grounding enforced by the interface contract</a:t>
            </a:r>
          </a:p>
          <a:p>
            <a:pPr>
              <a:lnSpc>
                <a:spcPct val="118000"/>
              </a:lnSpc>
              <a:spcAft>
                <a:spcPts val="1100"/>
              </a:spcAft>
            </a:pPr>
            <a:r>
              <a:rPr sz="1500">
                <a:solidFill>
                  <a:srgbClr val="6A6A6A"/>
                </a:solidFill>
                <a:latin typeface="Arial"/>
              </a:rPr>
              <a:t>— </a:t>
            </a:r>
            <a:r>
              <a:rPr sz="1500">
                <a:solidFill>
                  <a:srgbClr val="141414"/>
                </a:solidFill>
                <a:latin typeface="Arial"/>
              </a:rPr>
              <a:t>Four-layer verification incl. behavioural harness</a:t>
            </a:r>
          </a:p>
        </p:txBody>
      </p:sp>
      <p:sp>
        <p:nvSpPr>
          <p:cNvPr id="9" name="TextBox 8"/>
          <p:cNvSpPr txBox="1"/>
          <p:nvPr/>
        </p:nvSpPr>
        <p:spPr>
          <a:xfrm>
            <a:off x="6537960" y="3639312"/>
            <a:ext cx="4846320" cy="365760"/>
          </a:xfrm>
          <a:prstGeom prst="rect">
            <a:avLst/>
          </a:prstGeom>
          <a:noFill/>
        </p:spPr>
        <p:txBody>
          <a:bodyPr wrap="square" lIns="0" rIns="0" tIns="0" bIns="0">
            <a:spAutoFit/>
          </a:bodyPr>
          <a:lstStyle/>
          <a:p>
            <a:pPr algn="l">
              <a:lnSpc>
                <a:spcPct val="115000"/>
              </a:lnSpc>
              <a:spcAft>
                <a:spcPts val="600"/>
              </a:spcAft>
            </a:pPr>
            <a:r>
              <a:rPr sz="1700" b="1" i="0">
                <a:solidFill>
                  <a:srgbClr val="0A5C52"/>
                </a:solidFill>
                <a:latin typeface="Arial"/>
              </a:rPr>
              <a:t>Next</a:t>
            </a:r>
          </a:p>
        </p:txBody>
      </p:sp>
      <p:sp>
        <p:nvSpPr>
          <p:cNvPr id="10" name="TextBox 9"/>
          <p:cNvSpPr txBox="1"/>
          <p:nvPr/>
        </p:nvSpPr>
        <p:spPr>
          <a:xfrm>
            <a:off x="6537960" y="4041648"/>
            <a:ext cx="4846320" cy="2103120"/>
          </a:xfrm>
          <a:prstGeom prst="rect">
            <a:avLst/>
          </a:prstGeom>
          <a:noFill/>
        </p:spPr>
        <p:txBody>
          <a:bodyPr wrap="square" lIns="0" rIns="0" tIns="0" bIns="0">
            <a:spAutoFit/>
          </a:bodyPr>
          <a:lstStyle/>
          <a:p>
            <a:pPr>
              <a:lnSpc>
                <a:spcPct val="118000"/>
              </a:lnSpc>
              <a:spcAft>
                <a:spcPts val="1100"/>
              </a:spcAft>
            </a:pPr>
            <a:r>
              <a:rPr sz="1500">
                <a:solidFill>
                  <a:srgbClr val="6A6A6A"/>
                </a:solidFill>
                <a:latin typeface="Arial"/>
              </a:rPr>
              <a:t>— </a:t>
            </a:r>
            <a:r>
              <a:rPr sz="1500">
                <a:solidFill>
                  <a:srgbClr val="141414"/>
                </a:solidFill>
                <a:latin typeface="Arial"/>
              </a:rPr>
              <a:t>Automatic failover between models</a:t>
            </a:r>
          </a:p>
          <a:p>
            <a:pPr>
              <a:lnSpc>
                <a:spcPct val="118000"/>
              </a:lnSpc>
              <a:spcAft>
                <a:spcPts val="1100"/>
              </a:spcAft>
            </a:pPr>
            <a:r>
              <a:rPr sz="1500">
                <a:solidFill>
                  <a:srgbClr val="6A6A6A"/>
                </a:solidFill>
                <a:latin typeface="Arial"/>
              </a:rPr>
              <a:t>— </a:t>
            </a:r>
            <a:r>
              <a:rPr sz="1500">
                <a:solidFill>
                  <a:srgbClr val="141414"/>
                </a:solidFill>
                <a:latin typeface="Arial"/>
              </a:rPr>
              <a:t>Constrained output for clarifying questions</a:t>
            </a:r>
          </a:p>
          <a:p>
            <a:pPr>
              <a:lnSpc>
                <a:spcPct val="118000"/>
              </a:lnSpc>
              <a:spcAft>
                <a:spcPts val="1100"/>
              </a:spcAft>
            </a:pPr>
            <a:r>
              <a:rPr sz="1500">
                <a:solidFill>
                  <a:srgbClr val="6A6A6A"/>
                </a:solidFill>
                <a:latin typeface="Arial"/>
              </a:rPr>
              <a:t>— </a:t>
            </a:r>
            <a:r>
              <a:rPr sz="1500">
                <a:solidFill>
                  <a:srgbClr val="141414"/>
                </a:solidFill>
                <a:latin typeface="Arial"/>
              </a:rPr>
              <a:t>Larger evaluation set covering multi-turn chains</a:t>
            </a:r>
          </a:p>
        </p:txBody>
      </p:sp>
      <p:sp>
        <p:nvSpPr>
          <p:cNvPr id="11" name="TextBox 10"/>
          <p:cNvSpPr txBox="1"/>
          <p:nvPr/>
        </p:nvSpPr>
        <p:spPr>
          <a:xfrm>
            <a:off x="11064240" y="6327648"/>
            <a:ext cx="548640" cy="274320"/>
          </a:xfrm>
          <a:prstGeom prst="rect">
            <a:avLst/>
          </a:prstGeom>
          <a:noFill/>
        </p:spPr>
        <p:txBody>
          <a:bodyPr wrap="square" lIns="0" rIns="0" tIns="0" bIns="0">
            <a:spAutoFit/>
          </a:bodyPr>
          <a:lstStyle/>
          <a:p>
            <a:pPr algn="r">
              <a:lnSpc>
                <a:spcPct val="115000"/>
              </a:lnSpc>
              <a:spcAft>
                <a:spcPts val="600"/>
              </a:spcAft>
            </a:pPr>
            <a:r>
              <a:rPr sz="1100" b="0" i="0">
                <a:solidFill>
                  <a:srgbClr val="6A6A6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40280"/>
            <a:ext cx="12191695" cy="1097280"/>
          </a:xfrm>
          <a:prstGeom prst="rect">
            <a:avLst/>
          </a:prstGeom>
          <a:noFill/>
        </p:spPr>
        <p:txBody>
          <a:bodyPr wrap="square" lIns="0" rIns="0" tIns="0" bIns="0">
            <a:spAutoFit/>
          </a:bodyPr>
          <a:lstStyle/>
          <a:p>
            <a:pPr algn="ctr">
              <a:lnSpc>
                <a:spcPct val="115000"/>
              </a:lnSpc>
              <a:spcAft>
                <a:spcPts val="600"/>
              </a:spcAft>
            </a:pPr>
            <a:r>
              <a:rPr sz="5200" b="0" i="0">
                <a:solidFill>
                  <a:srgbClr val="FFFFFF"/>
                </a:solidFill>
                <a:latin typeface="Georgia"/>
              </a:rPr>
              <a:t>Thank you</a:t>
            </a:r>
          </a:p>
        </p:txBody>
      </p:sp>
      <p:sp>
        <p:nvSpPr>
          <p:cNvPr id="4" name="Rectangle 3"/>
          <p:cNvSpPr/>
          <p:nvPr/>
        </p:nvSpPr>
        <p:spPr>
          <a:xfrm>
            <a:off x="5090007" y="3584448"/>
            <a:ext cx="2011680" cy="25400"/>
          </a:xfrm>
          <a:prstGeom prst="rect">
            <a:avLst/>
          </a:prstGeom>
          <a:solidFill>
            <a:srgbClr val="5A6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3886200"/>
            <a:ext cx="12191695" cy="457200"/>
          </a:xfrm>
          <a:prstGeom prst="rect">
            <a:avLst/>
          </a:prstGeom>
          <a:noFill/>
        </p:spPr>
        <p:txBody>
          <a:bodyPr wrap="square" lIns="0" rIns="0" tIns="0" bIns="0">
            <a:spAutoFit/>
          </a:bodyPr>
          <a:lstStyle/>
          <a:p>
            <a:pPr algn="ctr">
              <a:lnSpc>
                <a:spcPct val="115000"/>
              </a:lnSpc>
              <a:spcAft>
                <a:spcPts val="600"/>
              </a:spcAft>
            </a:pPr>
            <a:r>
              <a:rPr sz="2000" b="0" i="1">
                <a:solidFill>
                  <a:srgbClr val="BFC9C7"/>
                </a:solidFill>
                <a:latin typeface="Georgia"/>
              </a:rPr>
              <a:t>Questions welcome</a:t>
            </a:r>
          </a:p>
        </p:txBody>
      </p:sp>
      <p:sp>
        <p:nvSpPr>
          <p:cNvPr id="6" name="TextBox 5"/>
          <p:cNvSpPr txBox="1"/>
          <p:nvPr/>
        </p:nvSpPr>
        <p:spPr>
          <a:xfrm>
            <a:off x="0" y="4892040"/>
            <a:ext cx="12191695" cy="365760"/>
          </a:xfrm>
          <a:prstGeom prst="rect">
            <a:avLst/>
          </a:prstGeom>
          <a:noFill/>
        </p:spPr>
        <p:txBody>
          <a:bodyPr wrap="square" lIns="0" rIns="0" tIns="0" bIns="0">
            <a:spAutoFit/>
          </a:bodyPr>
          <a:lstStyle/>
          <a:p>
            <a:pPr algn="ctr">
              <a:lnSpc>
                <a:spcPct val="115000"/>
              </a:lnSpc>
              <a:spcAft>
                <a:spcPts val="600"/>
              </a:spcAft>
            </a:pPr>
            <a:r>
              <a:rPr sz="1700" b="0" i="0">
                <a:solidFill>
                  <a:srgbClr val="FFFFFF"/>
                </a:solidFill>
                <a:latin typeface="Arial"/>
              </a:rPr>
              <a:t>Ridhi Kumari  ·  Roll No. 23052828</a:t>
            </a:r>
          </a:p>
        </p:txBody>
      </p:sp>
      <p:sp>
        <p:nvSpPr>
          <p:cNvPr id="7" name="TextBox 6"/>
          <p:cNvSpPr txBox="1"/>
          <p:nvPr/>
        </p:nvSpPr>
        <p:spPr>
          <a:xfrm>
            <a:off x="0" y="5303520"/>
            <a:ext cx="12191695" cy="365760"/>
          </a:xfrm>
          <a:prstGeom prst="rect">
            <a:avLst/>
          </a:prstGeom>
          <a:noFill/>
        </p:spPr>
        <p:txBody>
          <a:bodyPr wrap="square" lIns="0" rIns="0" tIns="0" bIns="0">
            <a:spAutoFit/>
          </a:bodyPr>
          <a:lstStyle/>
          <a:p>
            <a:pPr algn="ctr">
              <a:lnSpc>
                <a:spcPct val="115000"/>
              </a:lnSpc>
              <a:spcAft>
                <a:spcPts val="600"/>
              </a:spcAft>
            </a:pPr>
            <a:r>
              <a:rPr sz="1400" b="0" i="0">
                <a:solidFill>
                  <a:srgbClr val="9AA6A4"/>
                </a:solidFill>
                <a:latin typeface="Arial"/>
              </a:rPr>
              <a:t>School of Computer Engineering  ·  KIIT Deemed to be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